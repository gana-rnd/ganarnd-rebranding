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12191695" cy="54864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GROUP    ·    BOARD REVIEW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Aligning the External Axis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8580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rebranding direction — presented for approval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4892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Direction   |   Part 2 · Realization on the Web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July 2026    ·    Confidential — Internal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WHAT THIS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817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new direction. Not a campaign.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591056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positioning decision — the ground every line, every channel, every budget stands on. And it is already in our newest assets.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606040"/>
            <a:ext cx="54864" cy="822960"/>
          </a:xfrm>
          <a:prstGeom prst="rect">
            <a:avLst/>
          </a:prstGeom>
          <a:solidFill>
            <a:srgbClr val="D9E0E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6032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CDMO film already says: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871216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“one of the world’s largest and most advanced AAV production capacities.”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3703320"/>
            <a:ext cx="54864" cy="822960"/>
          </a:xfrm>
          <a:prstGeom prst="rect">
            <a:avLst/>
          </a:prstGeom>
          <a:solidFill>
            <a:srgbClr val="D9E0E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6576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internal technical review already defines us as: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968496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a filler company, but bio-manufacturing infrastructure.”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641848"/>
            <a:ext cx="54864" cy="4572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2" name="Text 10"/>
          <p:cNvSpPr/>
          <p:nvPr/>
        </p:nvSpPr>
        <p:spPr>
          <a:xfrm>
            <a:off x="886968" y="56235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not asking you to change direction — only to let the rest of the company catch up to where we already are.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6400800"/>
            <a:ext cx="10817352" cy="0"/>
          </a:xfrm>
          <a:prstGeom prst="line">
            <a:avLst/>
          </a:prstGeom>
          <a:noFill/>
          <a:ln w="12700">
            <a:solidFill>
              <a:srgbClr val="D9E0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GROUP  ·  Confidential — Internal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943600" y="641908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→ GANA Rebranding Proposal (v2)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817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facts. Each verifiable in a minute.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0574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20756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sentence isn’t ours.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244144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care for aging” is used — word for word — by cosmetics, filler and supplement companies. A sentence everyone can say tells no one apart.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326440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71600" y="328269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publish none of our registration numbers.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3648456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R&amp;D is named as manufacturer on 38 registrations. Numbers on our own channels: zero. In their place — “Russia FDA approved,” an agency that does not exist.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4471416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371600" y="448970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don’t appear in our own search results.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4855464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our product names and distributor sites come up before we do. For 13 years, distributors did the finding — so the recognition accrued to them.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5641848"/>
            <a:ext cx="54864" cy="4572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" y="56235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not that we lack credentials. It is that we do not use the ones we already hold.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5800" y="6400800"/>
            <a:ext cx="10817352" cy="0"/>
          </a:xfrm>
          <a:prstGeom prst="line">
            <a:avLst/>
          </a:prstGeom>
          <a:noFill/>
          <a:ln w="12700">
            <a:solidFill>
              <a:srgbClr val="D9E0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GROUP  ·  Confidential — Internal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0" y="641908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→ GANA Rebranding Proposal (v2)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817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registrations · 5 jurisdictions · all under GANA R&amp;D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57400"/>
          <a:ext cx="1081735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468880"/>
                <a:gridCol w="1188720"/>
                <a:gridCol w="45079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Jurisdiction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Kingdom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MHRA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6F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III · highest risk class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European Union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EUDAMED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6F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Manufacturer SRN · active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ANVISA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6F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class IV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Russia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Roszdravnadzor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6F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material families + wound care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6F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GMP certificate valid to Mar 2027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4892040"/>
            <a:ext cx="108173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Russia’s 8 span hyaluronic acid, PLLA, PCL and calcium — four material families under one manufacturer. That breadth does not come from a single product line. Full registry &amp; numbers: in the proposal, or on request.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85800" y="5641848"/>
            <a:ext cx="54864" cy="4572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7" name="Text 4"/>
          <p:cNvSpPr/>
          <p:nvPr/>
        </p:nvSpPr>
        <p:spPr>
          <a:xfrm>
            <a:off x="886968" y="56235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answer we already hold — and the thing our website currently shows none of.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85800" y="6400800"/>
            <a:ext cx="10817352" cy="0"/>
          </a:xfrm>
          <a:prstGeom prst="line">
            <a:avLst/>
          </a:prstGeom>
          <a:noFill/>
          <a:ln w="12700">
            <a:solidFill>
              <a:srgbClr val="D9E0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GROUP  ·  Confidential — Internal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943600" y="641908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→ GANA Rebranding Proposal (v2)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THE AXIS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817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filler company. Bio-manufacturing infrastructure.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5029200" cy="45720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57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46520" y="2057400"/>
            <a:ext cx="5029200" cy="4572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2057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2057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6334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subject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288950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— an effect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88950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manufacturer — a fact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3401568"/>
            <a:ext cx="10817352" cy="0"/>
          </a:xfrm>
          <a:prstGeom prst="line">
            <a:avLst/>
          </a:prstGeom>
          <a:noFill/>
          <a:ln w="9525">
            <a:solidFill>
              <a:srgbClr val="D9E0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5478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next move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380390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“Prove it.”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380390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me the registry.”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4315968"/>
            <a:ext cx="10817352" cy="0"/>
          </a:xfrm>
          <a:prstGeom prst="line">
            <a:avLst/>
          </a:prstGeom>
          <a:noFill/>
          <a:ln w="9525">
            <a:solidFill>
              <a:srgbClr val="D9E0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4622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on hand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5800" y="471830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471830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registrations · GMP · the plant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" y="5230368"/>
            <a:ext cx="10817352" cy="0"/>
          </a:xfrm>
          <a:prstGeom prst="line">
            <a:avLst/>
          </a:prstGeom>
          <a:noFill/>
          <a:ln w="9525">
            <a:solidFill>
              <a:srgbClr val="D9E0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5641848"/>
            <a:ext cx="54864" cy="4572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3" name="Text 21"/>
          <p:cNvSpPr/>
          <p:nvPr/>
        </p:nvSpPr>
        <p:spPr>
          <a:xfrm>
            <a:off x="886968" y="56235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change the claim — we attach the proof. And a competitor without a plant cannot copy this.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85800" y="6400800"/>
            <a:ext cx="10817352" cy="0"/>
          </a:xfrm>
          <a:prstGeom prst="line">
            <a:avLst/>
          </a:prstGeom>
          <a:noFill/>
          <a:ln w="12700">
            <a:solidFill>
              <a:srgbClr val="D9E0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GROUP  ·  Confidential — Internal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943600" y="641908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→ GANA Rebranding Proposal (v2)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HOW WE SAY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817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say each layer only as deep as it can carry.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10817352" cy="1051560"/>
          </a:xfrm>
          <a:prstGeom prst="rect">
            <a:avLst/>
          </a:prstGeom>
          <a:solidFill>
            <a:srgbClr val="F3F6F9"/>
          </a:solidFill>
          <a:ln w="9525">
            <a:solidFill>
              <a:srgbClr val="D9E0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103120"/>
            <a:ext cx="82296" cy="1051560"/>
          </a:xfrm>
          <a:prstGeom prst="rect">
            <a:avLst/>
          </a:prstGeom>
          <a:solidFill>
            <a:srgbClr val="0E7C6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494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fillers, materials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20440" y="2231136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made it.”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520440" y="276148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MFDS 27 · Russia 8 · ANVISA 2 · GMP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418320" y="2468880"/>
            <a:ext cx="1874520" cy="329184"/>
          </a:xfrm>
          <a:prstGeom prst="roundRect">
            <a:avLst>
              <a:gd name="adj" fmla="val 50000"/>
            </a:avLst>
          </a:prstGeom>
          <a:solidFill>
            <a:srgbClr val="0E7C66"/>
          </a:solidFill>
          <a:ln/>
        </p:spPr>
      </p:sp>
      <p:sp>
        <p:nvSpPr>
          <p:cNvPr id="11" name="Text 9"/>
          <p:cNvSpPr/>
          <p:nvPr/>
        </p:nvSpPr>
        <p:spPr>
          <a:xfrm>
            <a:off x="9418320" y="2468880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3273552"/>
            <a:ext cx="10817352" cy="1051560"/>
          </a:xfrm>
          <a:prstGeom prst="rect">
            <a:avLst/>
          </a:prstGeom>
          <a:solidFill>
            <a:srgbClr val="F3F6F9"/>
          </a:solidFill>
          <a:ln w="9525">
            <a:solidFill>
              <a:srgbClr val="D9E0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273552"/>
            <a:ext cx="82296" cy="1051560"/>
          </a:xfrm>
          <a:prstGeom prst="rect">
            <a:avLst/>
          </a:prstGeom>
          <a:solidFill>
            <a:srgbClr val="0E7C66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4198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7764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wound care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340156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“It’s already registered.”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520440" y="39319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 2024/22431 · MFDS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418320" y="3639312"/>
            <a:ext cx="1874520" cy="329184"/>
          </a:xfrm>
          <a:prstGeom prst="roundRect">
            <a:avLst>
              <a:gd name="adj" fmla="val 50000"/>
            </a:avLst>
          </a:prstGeom>
          <a:solidFill>
            <a:srgbClr val="0E7C66"/>
          </a:solidFill>
          <a:ln/>
        </p:spPr>
      </p:sp>
      <p:sp>
        <p:nvSpPr>
          <p:cNvPr id="19" name="Text 17"/>
          <p:cNvSpPr/>
          <p:nvPr/>
        </p:nvSpPr>
        <p:spPr>
          <a:xfrm>
            <a:off x="9418320" y="3639312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4443984"/>
            <a:ext cx="10817352" cy="1051560"/>
          </a:xfrm>
          <a:prstGeom prst="rect">
            <a:avLst/>
          </a:prstGeom>
          <a:solidFill>
            <a:srgbClr val="F3F6F9"/>
          </a:solidFill>
          <a:ln w="9525">
            <a:solidFill>
              <a:srgbClr val="D9E0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443984"/>
            <a:ext cx="82296" cy="1051560"/>
          </a:xfrm>
          <a:prstGeom prst="rect">
            <a:avLst/>
          </a:prstGeom>
          <a:solidFill>
            <a:srgbClr val="B26B00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5902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&amp; GENE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494690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AAV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20440" y="45720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“We’ve built it. Certification is the 2026 target.”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3520440" y="510235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Commissioned Aug 2025 · equipment installed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418320" y="4809744"/>
            <a:ext cx="1874520" cy="329184"/>
          </a:xfrm>
          <a:prstGeom prst="roundRect">
            <a:avLst>
              <a:gd name="adj" fmla="val 50000"/>
            </a:avLst>
          </a:prstGeom>
          <a:solidFill>
            <a:srgbClr val="B26B00"/>
          </a:solidFill>
          <a:ln/>
        </p:spPr>
      </p:sp>
      <p:sp>
        <p:nvSpPr>
          <p:cNvPr id="27" name="Text 25"/>
          <p:cNvSpPr/>
          <p:nvPr/>
        </p:nvSpPr>
        <p:spPr>
          <a:xfrm>
            <a:off x="9418320" y="4809744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" y="5641848"/>
            <a:ext cx="54864" cy="4572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9" name="Text 27"/>
          <p:cNvSpPr/>
          <p:nvPr/>
        </p:nvSpPr>
        <p:spPr>
          <a:xfrm>
            <a:off x="886968" y="56235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sentence spans all three. Split, both halves stay true — joined, both are doubted. Honesty is the defense.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85800" y="6400800"/>
            <a:ext cx="10817352" cy="0"/>
          </a:xfrm>
          <a:prstGeom prst="line">
            <a:avLst/>
          </a:prstGeom>
          <a:noFill/>
          <a:ln w="12700">
            <a:solidFill>
              <a:srgbClr val="D9E0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GROUP  ·  Confidential — Internal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943600" y="641908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→ GANA Rebranding Proposal (v2)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REALIZATION ON THE WEB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789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stop describing ourselves —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start handing over numbers.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383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3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sentence is a claim. A number is proof. The place we actually hand over the number is the website.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3977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3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buyer asks “is that true?”, the site is where they go to check.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892040"/>
            <a:ext cx="64008" cy="868680"/>
          </a:xfrm>
          <a:prstGeom prst="rect">
            <a:avLst/>
          </a:prstGeom>
          <a:solidFill>
            <a:srgbClr val="6FA8FF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489204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web rebuild — the task I was originally hired for — is not a side job. It is the point where the axis turns from words into fact.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THE HIGHEST-LEVERAGE MOVE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817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registrations. Zero on our website.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gap we close first — zero cost, no approval.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94560"/>
          <a:ext cx="10817352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696712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spc="100" kern="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  (all web)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spc="1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BECOMES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registrations — 0 published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registration number + lookup link on every product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“Russia FDA approved” (no such agency)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numbers: Roszdravnadzor · MHRA · ANVISA · MFDS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Expired CE / ISO badges on display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8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Expired badges down + current GMP certificate 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507492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page — a Certification &amp; Registry room: every jurisdiction’s number and lookup link in one place, the first page a buyer or auditor opens.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85800" y="5641848"/>
            <a:ext cx="54864" cy="4572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8" name="Text 5"/>
          <p:cNvSpPr/>
          <p:nvPr/>
        </p:nvSpPr>
        <p:spPr>
          <a:xfrm>
            <a:off x="886968" y="56235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highest-leverage item in the whole plan. Pure web work. Zero cost. It turns the axis from word to fact.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85800" y="6400800"/>
            <a:ext cx="10817352" cy="0"/>
          </a:xfrm>
          <a:prstGeom prst="line">
            <a:avLst/>
          </a:prstGeom>
          <a:noFill/>
          <a:ln w="12700">
            <a:solidFill>
              <a:srgbClr val="D9E0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GROUP  ·  Confidential — Internal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943600" y="641908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→ GANA Rebranding Proposal (v2)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THE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817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first, then promote.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914400" cy="786384"/>
          </a:xfrm>
          <a:prstGeom prst="roundRect">
            <a:avLst>
              <a:gd name="adj" fmla="val 6977"/>
            </a:avLst>
          </a:prstGeom>
          <a:solidFill>
            <a:srgbClr val="0E7C6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848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28800" y="2039112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web cleanup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2414016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· expired badges down · “Russia FDA” → numbers · current GMP up. No approval, zero cost.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944368"/>
            <a:ext cx="914400" cy="786384"/>
          </a:xfrm>
          <a:prstGeom prst="roundRect">
            <a:avLst>
              <a:gd name="adj" fmla="val 6977"/>
            </a:avLst>
          </a:prstGeom>
          <a:solidFill>
            <a:srgbClr val="1F6FE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" y="340156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weeks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28800" y="2971800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axis &amp; language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3346704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axis · slogan · copy guide · promote the cosmetics design system · wording dictionary.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877056"/>
            <a:ext cx="914400" cy="786384"/>
          </a:xfrm>
          <a:prstGeom prst="roundRect">
            <a:avLst>
              <a:gd name="adj" fmla="val 6977"/>
            </a:avLst>
          </a:prstGeom>
          <a:solidFill>
            <a:srgbClr val="1F6FE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9502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5800" y="433425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weeks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828800" y="3904488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parent site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28800" y="427939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rebuild · Certification &amp; Registry room · 3-layer IA · 6 languages. (Cosmetics site in parallel.)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809744"/>
            <a:ext cx="914400" cy="786384"/>
          </a:xfrm>
          <a:prstGeom prst="roundRect">
            <a:avLst>
              <a:gd name="adj" fmla="val 6977"/>
            </a:avLst>
          </a:prstGeom>
          <a:solidFill>
            <a:srgbClr val="5B6B7B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88289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5800" y="526694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weeks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828800" y="4837176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Dr.Park CDMO site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52120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— begins after the capacity number is confirmed.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870448"/>
            <a:ext cx="54864" cy="4572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5" name="Text 23"/>
          <p:cNvSpPr/>
          <p:nvPr/>
        </p:nvSpPr>
        <p:spPr>
          <a:xfrm>
            <a:off x="886968" y="58521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before we fix, and it backfires. The order is the point.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85800" y="6400800"/>
            <a:ext cx="10817352" cy="0"/>
          </a:xfrm>
          <a:prstGeom prst="line">
            <a:avLst/>
          </a:prstGeom>
          <a:noFill/>
          <a:ln w="12700">
            <a:solidFill>
              <a:srgbClr val="D9E0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GROUP  ·  Confidential — Internal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943600" y="641908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→ GANA Rebranding Proposal (v2)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817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approvals — all within web scope.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457200" cy="82296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44168" y="1938528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web cleanup now.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44168" y="230428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approval needed, zero cost. With a yes, we begin today. (Two registrations expire this month — renew regardless.)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871216"/>
            <a:ext cx="457200" cy="82296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44168" y="2889504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the external wording.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44168" y="3255264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“world’s largest” and anti-aging — rewritten in a form that holds up to due diligence.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822192"/>
            <a:ext cx="457200" cy="82296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44168" y="384048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the cosmetics design system to the group standard.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44168" y="42062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parent site on gana-cosmetics.com’s design system and multilingual structure. The design source is already ours.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773168"/>
            <a:ext cx="457200" cy="82296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956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44168" y="4791456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wording goes live only after sign-off.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44168" y="515721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and Legal confirm; marketing and web draft only.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5916168"/>
            <a:ext cx="54864" cy="4572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1" name="Text 19"/>
          <p:cNvSpPr/>
          <p:nvPr/>
        </p:nvSpPr>
        <p:spPr>
          <a:xfrm>
            <a:off x="886968" y="5897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8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discarded. We simply start using what we already have.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85800" y="6400800"/>
            <a:ext cx="10817352" cy="0"/>
          </a:xfrm>
          <a:prstGeom prst="line">
            <a:avLst/>
          </a:prstGeom>
          <a:noFill/>
          <a:ln w="12700">
            <a:solidFill>
              <a:srgbClr val="D9E0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GROUP  ·  Confidential — Internal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943600" y="641908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→ GANA Rebranding Proposal (v2)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29284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12191695" cy="54864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8288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thrown away.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10789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stop describing ourselves —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start handing over numbers.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4937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first step — request one — can begin today, at zero cost.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GROUP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2026-07-23T02:29:19Z</dcterms:created>
  <dcterms:modified xsi:type="dcterms:W3CDTF">2026-07-23T02:29:19Z</dcterms:modified>
</cp:coreProperties>
</file>