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F2FCF5-2DDE-41FA-A6BC-BCF9E4785A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49385DA-AE55-4673-A688-C2EA6FCE11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E1009B-FA34-4D70-985A-49A12D854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FD75B-96B4-4390-AB27-6BEE354CB3D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3D7526-C1AA-4A6E-9900-D38566541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F1BC8E-001A-4E09-BF5C-5F9D2262A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8AB39-6588-4C47-8ADD-7F201FAE25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2899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F07417-ED6B-428D-88D8-F888E065E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583291-6889-4622-AF86-18E9CC9DA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840847-A97E-4FC5-9037-29151AA4C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FD75B-96B4-4390-AB27-6BEE354CB3D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A1E6CD-6A79-4C01-AAC0-976D11638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1E5B88-8C93-4B7B-8114-7B70BC747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8AB39-6588-4C47-8ADD-7F201FAE25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8032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C9CE3A-83F0-4945-A289-DB830C589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17741B-BE59-412F-B03F-A3A2BEFA3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6E0447-A3C3-4ADD-AB23-150B8129F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FD75B-96B4-4390-AB27-6BEE354CB3D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25BA87-B7A3-44A4-84C4-A7FAB7769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2D79CB-CC6D-496F-88B5-B1A0C966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8AB39-6588-4C47-8ADD-7F201FAE25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208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2AAC91-28E4-4883-8432-A539F4295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508000-011A-4063-BD44-3E429A166A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43AB23-1B09-4A96-B6D8-517932F00E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373837-7EB3-47B1-B433-AB0842E53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FD75B-96B4-4390-AB27-6BEE354CB3D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1516C5-6E61-4479-BE9F-14F39F702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956548-7E60-47E5-AADD-FA423F424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8AB39-6588-4C47-8ADD-7F201FAE25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1302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4D04EF-C709-45B5-B344-316AA225F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961D8F-4C7F-4A1E-9BEE-D61071C0F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D8D493-6CCA-42E5-847E-768B515079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A76EA5E-A496-4803-B0A9-4ED0DBEB9C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1B21477-587C-4FD3-9704-A6178A394E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CB04B4D-58D5-4D04-9A9A-ECF733897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FD75B-96B4-4390-AB27-6BEE354CB3D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EDC1573-2E00-43C2-9D8E-7D90DBA0A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48BEAF8-35E5-4340-A66B-B1A73B210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8AB39-6588-4C47-8ADD-7F201FAE25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7611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D0AFAD-F3EB-43B8-8700-5D1F27004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C5E13CF-B14F-4DAA-8F05-11F398572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FD75B-96B4-4390-AB27-6BEE354CB3D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1FA4EC1-1F4B-4777-B860-2B811CDC3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2B38737-D57E-4EAE-86B6-FF8EDBB24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8AB39-6588-4C47-8ADD-7F201FAE25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39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4457E9C-1054-48E3-A81B-DB3A850A0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FD75B-96B4-4390-AB27-6BEE354CB3D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C9BFD31-AD55-44E2-AE3E-E09C7DE82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804250-118D-4FD8-AFC7-EF8BCEE94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8AB39-6588-4C47-8ADD-7F201FAE25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7978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97A129-1B93-4A20-A41B-216CC946C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F1C41D-5F88-4AE4-BAE8-59FF3FE83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B1416A-9E08-4249-BFDB-570E5F8DD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F54E34-F558-4CF3-AA32-EA0BEE0F0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FD75B-96B4-4390-AB27-6BEE354CB3D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778E447-A947-4D04-926A-AE8683181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443A5B-BAED-4111-AAC6-52C2520D5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8AB39-6588-4C47-8ADD-7F201FAE25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902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8B493C-D09F-4176-82F5-816D91BF5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6798480-0ECD-4071-BC54-B165F4410E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4FF957E-879A-451A-B26E-69D8A3ABB4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E4D6D2-0758-489C-9C55-6BC374C70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FD75B-96B4-4390-AB27-6BEE354CB3D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EEDC4-57D8-4512-849B-CA1C19991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043B41-E590-49AB-9D39-BFB69F826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8AB39-6588-4C47-8ADD-7F201FAE25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771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0F4DB2-7D8C-4081-AB66-09D7F1F3E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512EEBB-5E18-42A0-B616-FD3306E7E2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5712A2-9BD4-4AD7-BC02-60830083E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FD75B-96B4-4390-AB27-6BEE354CB3D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E56704-2D10-4EFA-9B90-4D1354008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2D323-8412-4E44-814B-FCFAF38E6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8AB39-6588-4C47-8ADD-7F201FAE25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5370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75E22E1-5150-4871-9738-1A1608F610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8D59A65-0ADC-4BB3-9B56-F93E2B3D18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F1249F-E386-48B3-9B29-EDECD55E2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FD75B-96B4-4390-AB27-6BEE354CB3D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B07FBF-5C08-4627-9A7C-320F3ACB7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E5603D-5517-4B57-8E6F-2C0EEDE9F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8AB39-6588-4C47-8ADD-7F201FAE25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6601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5E47F8A-46BE-4A05-BB52-A1FD8C8FD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67254D-07A4-42F4-AD5F-99B524C52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86885F-696C-4D74-B6F0-8B593A833D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EFD75B-96B4-4390-AB27-6BEE354CB3DD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AA0FB4-CC38-4934-907B-5EE415BB5D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D09317-103B-41B2-AF12-169C45BDAC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48AB39-6588-4C47-8ADD-7F201FAE25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3824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F10A209-2F56-4741-A6B5-FE2C390093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8F8AAB-85AE-44FD-8F3C-9C81233CCD18}"/>
              </a:ext>
            </a:extLst>
          </p:cNvPr>
          <p:cNvSpPr/>
          <p:nvPr/>
        </p:nvSpPr>
        <p:spPr>
          <a:xfrm>
            <a:off x="762000" y="3175000"/>
            <a:ext cx="711200" cy="508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616BB0-5E6E-4651-937A-CAD2D371EFEC}"/>
              </a:ext>
            </a:extLst>
          </p:cNvPr>
          <p:cNvSpPr txBox="1"/>
          <p:nvPr/>
        </p:nvSpPr>
        <p:spPr>
          <a:xfrm>
            <a:off x="762000" y="2540000"/>
            <a:ext cx="10668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400" b="1">
                <a:solidFill>
                  <a:srgbClr val="1F4E79"/>
                </a:solidFill>
                <a:latin typeface="Segoe UI" panose="020B0502040204020203" pitchFamily="34" charset="0"/>
              </a:rPr>
              <a:t>GANA GROUP   ·   BOARD REVIEW</a:t>
            </a:r>
            <a:endParaRPr lang="ko-KR" altLang="en-US" sz="1400" b="1">
              <a:solidFill>
                <a:srgbClr val="1F4E79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7C1F5E-E4F0-4FD8-BE80-22FF3621ECFA}"/>
              </a:ext>
            </a:extLst>
          </p:cNvPr>
          <p:cNvSpPr txBox="1"/>
          <p:nvPr/>
        </p:nvSpPr>
        <p:spPr>
          <a:xfrm>
            <a:off x="762000" y="3403600"/>
            <a:ext cx="10668000" cy="707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4600" b="1">
                <a:solidFill>
                  <a:srgbClr val="1A1A1A"/>
                </a:solidFill>
                <a:latin typeface="Segoe UI" panose="020B0502040204020203" pitchFamily="34" charset="0"/>
              </a:rPr>
              <a:t>Aligning the External Axis</a:t>
            </a:r>
            <a:endParaRPr lang="ko-KR" altLang="en-US" sz="4600" b="1">
              <a:solidFill>
                <a:srgbClr val="1A1A1A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13F695-A286-4889-839D-426C18F56E77}"/>
              </a:ext>
            </a:extLst>
          </p:cNvPr>
          <p:cNvSpPr txBox="1"/>
          <p:nvPr/>
        </p:nvSpPr>
        <p:spPr>
          <a:xfrm>
            <a:off x="762000" y="45212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>
                <a:solidFill>
                  <a:srgbClr val="6B6B6B"/>
                </a:solidFill>
                <a:latin typeface="Segoe UI" panose="020B0502040204020203" pitchFamily="34" charset="0"/>
              </a:rPr>
              <a:t>A rebranding direction — presented for approval</a:t>
            </a:r>
            <a:endParaRPr lang="ko-KR" altLang="en-US">
              <a:solidFill>
                <a:srgbClr val="6B6B6B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1BD1ED-5978-45F3-8EBF-B23CB8C4DEB6}"/>
              </a:ext>
            </a:extLst>
          </p:cNvPr>
          <p:cNvSpPr txBox="1"/>
          <p:nvPr/>
        </p:nvSpPr>
        <p:spPr>
          <a:xfrm>
            <a:off x="762000" y="5969000"/>
            <a:ext cx="1066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6B6B6B"/>
                </a:solidFill>
                <a:latin typeface="Segoe UI" panose="020B0502040204020203" pitchFamily="34" charset="0"/>
              </a:rPr>
              <a:t>24 July 2026   ·   Confidential — Internal</a:t>
            </a:r>
            <a:endParaRPr lang="ko-KR" altLang="en-US" sz="1100">
              <a:solidFill>
                <a:srgbClr val="6B6B6B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4197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E50EDC5-DE72-4566-9724-460C11484C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A1373E-37A7-4652-9821-6AA1ED9503B8}"/>
              </a:ext>
            </a:extLst>
          </p:cNvPr>
          <p:cNvSpPr txBox="1"/>
          <p:nvPr/>
        </p:nvSpPr>
        <p:spPr>
          <a:xfrm>
            <a:off x="762000" y="685800"/>
            <a:ext cx="1066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1F4E79"/>
                </a:solidFill>
                <a:latin typeface="Segoe UI" panose="020B0502040204020203" pitchFamily="34" charset="0"/>
              </a:rPr>
              <a:t>01  ·  THE STARTING POINT</a:t>
            </a:r>
            <a:endParaRPr lang="ko-KR" altLang="en-US" sz="1300" b="1">
              <a:solidFill>
                <a:srgbClr val="1F4E79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C7996D-9A52-4CC6-8ED4-879EA802A81A}"/>
              </a:ext>
            </a:extLst>
          </p:cNvPr>
          <p:cNvSpPr txBox="1"/>
          <p:nvPr/>
        </p:nvSpPr>
        <p:spPr>
          <a:xfrm>
            <a:off x="762000" y="1041400"/>
            <a:ext cx="10668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3000" b="1">
                <a:solidFill>
                  <a:srgbClr val="1A1A1A"/>
                </a:solidFill>
                <a:latin typeface="Segoe UI" panose="020B0502040204020203" pitchFamily="34" charset="0"/>
              </a:rPr>
              <a:t>This is not a new direction</a:t>
            </a:r>
            <a:endParaRPr lang="ko-KR" altLang="en-US" sz="3000" b="1">
              <a:solidFill>
                <a:srgbClr val="1A1A1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BA813B9-869F-43C9-AB55-810F56CED350}"/>
              </a:ext>
            </a:extLst>
          </p:cNvPr>
          <p:cNvSpPr/>
          <p:nvPr/>
        </p:nvSpPr>
        <p:spPr>
          <a:xfrm>
            <a:off x="787400" y="1752600"/>
            <a:ext cx="711200" cy="381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FFA23D-F7A2-4654-AAE9-49972F3662BF}"/>
              </a:ext>
            </a:extLst>
          </p:cNvPr>
          <p:cNvSpPr txBox="1"/>
          <p:nvPr/>
        </p:nvSpPr>
        <p:spPr>
          <a:xfrm>
            <a:off x="762000" y="2184400"/>
            <a:ext cx="10668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6B6B6B"/>
                </a:solidFill>
                <a:latin typeface="Segoe UI" panose="020B0502040204020203" pitchFamily="34" charset="0"/>
              </a:rPr>
              <a:t>Our own CDMO film already says:</a:t>
            </a:r>
            <a:endParaRPr lang="ko-KR" altLang="en-US" sz="1600">
              <a:solidFill>
                <a:srgbClr val="6B6B6B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5BBB94-88D8-4EC2-9026-2B91E14E4DAA}"/>
              </a:ext>
            </a:extLst>
          </p:cNvPr>
          <p:cNvSpPr txBox="1"/>
          <p:nvPr/>
        </p:nvSpPr>
        <p:spPr>
          <a:xfrm>
            <a:off x="762000" y="2540000"/>
            <a:ext cx="10668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000" b="1">
                <a:solidFill>
                  <a:srgbClr val="1A1A1A"/>
                </a:solidFill>
                <a:latin typeface="Segoe UI" panose="020B0502040204020203" pitchFamily="34" charset="0"/>
              </a:rPr>
              <a:t>“one of the world’s largest and most advanced AAV production capacities.”</a:t>
            </a:r>
            <a:endParaRPr lang="ko-KR" altLang="en-US" sz="2000" b="1">
              <a:solidFill>
                <a:srgbClr val="1A1A1A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550221-A270-465D-84CB-AA6CB3AA94EB}"/>
              </a:ext>
            </a:extLst>
          </p:cNvPr>
          <p:cNvSpPr txBox="1"/>
          <p:nvPr/>
        </p:nvSpPr>
        <p:spPr>
          <a:xfrm>
            <a:off x="762000" y="3327400"/>
            <a:ext cx="10668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6B6B6B"/>
                </a:solidFill>
                <a:latin typeface="Segoe UI" panose="020B0502040204020203" pitchFamily="34" charset="0"/>
              </a:rPr>
              <a:t>Our internal technical review defines us as:</a:t>
            </a:r>
            <a:endParaRPr lang="ko-KR" altLang="en-US" sz="1600">
              <a:solidFill>
                <a:srgbClr val="6B6B6B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23442F-41AA-4776-8DDF-5755B224C898}"/>
              </a:ext>
            </a:extLst>
          </p:cNvPr>
          <p:cNvSpPr txBox="1"/>
          <p:nvPr/>
        </p:nvSpPr>
        <p:spPr>
          <a:xfrm>
            <a:off x="762000" y="3683000"/>
            <a:ext cx="10668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000" b="1">
                <a:solidFill>
                  <a:srgbClr val="1A1A1A"/>
                </a:solidFill>
                <a:latin typeface="Segoe UI" panose="020B0502040204020203" pitchFamily="34" charset="0"/>
              </a:rPr>
              <a:t>“not a filler company, but bio-manufacturing infrastructure.”</a:t>
            </a:r>
            <a:endParaRPr lang="ko-KR" altLang="en-US" sz="2000" b="1">
              <a:solidFill>
                <a:srgbClr val="1A1A1A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2120E0B-1398-4762-8C43-DB4DBCFE75E4}"/>
              </a:ext>
            </a:extLst>
          </p:cNvPr>
          <p:cNvSpPr/>
          <p:nvPr/>
        </p:nvSpPr>
        <p:spPr>
          <a:xfrm>
            <a:off x="762000" y="4470400"/>
            <a:ext cx="10668000" cy="939800"/>
          </a:xfrm>
          <a:prstGeom prst="rect">
            <a:avLst/>
          </a:prstGeom>
          <a:solidFill>
            <a:srgbClr val="EDED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828274-2B9D-4E3B-83F5-05096006290C}"/>
              </a:ext>
            </a:extLst>
          </p:cNvPr>
          <p:cNvSpPr txBox="1"/>
          <p:nvPr/>
        </p:nvSpPr>
        <p:spPr>
          <a:xfrm>
            <a:off x="1016000" y="4673600"/>
            <a:ext cx="10160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b="1">
                <a:solidFill>
                  <a:srgbClr val="1A1A1A"/>
                </a:solidFill>
                <a:latin typeface="Segoe UI" panose="020B0502040204020203" pitchFamily="34" charset="0"/>
              </a:rPr>
              <a:t>The newest assets already stand on this axis. The website and the printed material have not caught up.</a:t>
            </a:r>
            <a:endParaRPr lang="ko-KR" altLang="en-US" b="1">
              <a:solidFill>
                <a:srgbClr val="1A1A1A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29B4DA-F901-4EED-9DE8-95CAA9044652}"/>
              </a:ext>
            </a:extLst>
          </p:cNvPr>
          <p:cNvSpPr txBox="1"/>
          <p:nvPr/>
        </p:nvSpPr>
        <p:spPr>
          <a:xfrm>
            <a:off x="762000" y="5664200"/>
            <a:ext cx="10668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6B6B6B"/>
                </a:solidFill>
                <a:latin typeface="Segoe UI" panose="020B0502040204020203" pitchFamily="34" charset="0"/>
              </a:rPr>
              <a:t>I am not asking you to change direction — only to let the rest of the company catch up to where we already are.</a:t>
            </a:r>
            <a:endParaRPr lang="ko-KR" altLang="en-US" sz="1600">
              <a:solidFill>
                <a:srgbClr val="6B6B6B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605527-6DEA-42FA-A743-107F2543966E}"/>
              </a:ext>
            </a:extLst>
          </p:cNvPr>
          <p:cNvSpPr txBox="1"/>
          <p:nvPr/>
        </p:nvSpPr>
        <p:spPr>
          <a:xfrm>
            <a:off x="762000" y="65024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6B6B6B"/>
                </a:solidFill>
                <a:latin typeface="Segoe UI" panose="020B0502040204020203" pitchFamily="34" charset="0"/>
              </a:rPr>
              <a:t>GANA GROUP  ·  Confidential — Internal</a:t>
            </a:r>
            <a:endParaRPr lang="ko-KR" altLang="en-US" sz="900">
              <a:solidFill>
                <a:srgbClr val="6B6B6B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F2135D-61BC-4C7C-A514-0C011998EA03}"/>
              </a:ext>
            </a:extLst>
          </p:cNvPr>
          <p:cNvSpPr txBox="1"/>
          <p:nvPr/>
        </p:nvSpPr>
        <p:spPr>
          <a:xfrm>
            <a:off x="10922000" y="6502400"/>
            <a:ext cx="508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900">
                <a:solidFill>
                  <a:srgbClr val="6B6B6B"/>
                </a:solidFill>
                <a:latin typeface="Segoe UI" panose="020B0502040204020203" pitchFamily="34" charset="0"/>
              </a:rPr>
              <a:t>2</a:t>
            </a:r>
            <a:endParaRPr lang="ko-KR" altLang="en-US" sz="900">
              <a:solidFill>
                <a:srgbClr val="6B6B6B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7886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8E341B8-49C1-48FE-901E-3FB9165381B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093397-CF80-4F7F-AF9E-688D3AC123EA}"/>
              </a:ext>
            </a:extLst>
          </p:cNvPr>
          <p:cNvSpPr txBox="1"/>
          <p:nvPr/>
        </p:nvSpPr>
        <p:spPr>
          <a:xfrm>
            <a:off x="762000" y="685800"/>
            <a:ext cx="1066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1F4E79"/>
                </a:solidFill>
                <a:latin typeface="Segoe UI" panose="020B0502040204020203" pitchFamily="34" charset="0"/>
              </a:rPr>
              <a:t>02  ·  WHERE WE STAND</a:t>
            </a:r>
            <a:endParaRPr lang="ko-KR" altLang="en-US" sz="1300" b="1">
              <a:solidFill>
                <a:srgbClr val="1F4E79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7D60EB-348F-454D-A9B6-2FFA7B67CB5C}"/>
              </a:ext>
            </a:extLst>
          </p:cNvPr>
          <p:cNvSpPr txBox="1"/>
          <p:nvPr/>
        </p:nvSpPr>
        <p:spPr>
          <a:xfrm>
            <a:off x="762000" y="1041400"/>
            <a:ext cx="10668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3000" b="1">
                <a:solidFill>
                  <a:srgbClr val="1A1A1A"/>
                </a:solidFill>
                <a:latin typeface="Segoe UI" panose="020B0502040204020203" pitchFamily="34" charset="0"/>
              </a:rPr>
              <a:t>Three facts — each verifiable in a minute</a:t>
            </a:r>
            <a:endParaRPr lang="ko-KR" altLang="en-US" sz="3000" b="1">
              <a:solidFill>
                <a:srgbClr val="1A1A1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83E11D-9E1B-4A3E-8231-959DFD6DC5A5}"/>
              </a:ext>
            </a:extLst>
          </p:cNvPr>
          <p:cNvSpPr/>
          <p:nvPr/>
        </p:nvSpPr>
        <p:spPr>
          <a:xfrm>
            <a:off x="787400" y="1752600"/>
            <a:ext cx="711200" cy="381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40DB69-993C-4A71-82B4-91270004925E}"/>
              </a:ext>
            </a:extLst>
          </p:cNvPr>
          <p:cNvSpPr txBox="1"/>
          <p:nvPr/>
        </p:nvSpPr>
        <p:spPr>
          <a:xfrm>
            <a:off x="762000" y="2235200"/>
            <a:ext cx="4318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600" b="1">
                <a:solidFill>
                  <a:srgbClr val="1F4E79"/>
                </a:solidFill>
                <a:latin typeface="Segoe UI" panose="020B0502040204020203" pitchFamily="34" charset="0"/>
              </a:rPr>
              <a:t>1</a:t>
            </a:r>
            <a:endParaRPr lang="ko-KR" altLang="en-US" sz="2600" b="1">
              <a:solidFill>
                <a:srgbClr val="1F4E79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86ADA2-AF58-456A-AA00-0E158C80D284}"/>
              </a:ext>
            </a:extLst>
          </p:cNvPr>
          <p:cNvSpPr txBox="1"/>
          <p:nvPr/>
        </p:nvSpPr>
        <p:spPr>
          <a:xfrm>
            <a:off x="1371600" y="223520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700">
                <a:solidFill>
                  <a:srgbClr val="1A1A1A"/>
                </a:solidFill>
                <a:latin typeface="Segoe UI" panose="020B0502040204020203" pitchFamily="34" charset="0"/>
              </a:rPr>
              <a:t>The sentence isn’t ours.  “We care for aging” is used, word for word, by cosmetics, filler and supplement companies.</a:t>
            </a:r>
            <a:endParaRPr lang="ko-KR" altLang="en-US" sz="1700">
              <a:solidFill>
                <a:srgbClr val="1A1A1A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A8A0A6-ED51-412E-8A3C-F4DB842768F6}"/>
              </a:ext>
            </a:extLst>
          </p:cNvPr>
          <p:cNvSpPr txBox="1"/>
          <p:nvPr/>
        </p:nvSpPr>
        <p:spPr>
          <a:xfrm>
            <a:off x="762000" y="3149600"/>
            <a:ext cx="4318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600" b="1">
                <a:solidFill>
                  <a:srgbClr val="1F4E79"/>
                </a:solidFill>
                <a:latin typeface="Segoe UI" panose="020B0502040204020203" pitchFamily="34" charset="0"/>
              </a:rPr>
              <a:t>2</a:t>
            </a:r>
            <a:endParaRPr lang="ko-KR" altLang="en-US" sz="2600" b="1">
              <a:solidFill>
                <a:srgbClr val="1F4E79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65AE06-3A33-49B5-97B1-3CF9AF63CCC9}"/>
              </a:ext>
            </a:extLst>
          </p:cNvPr>
          <p:cNvSpPr txBox="1"/>
          <p:nvPr/>
        </p:nvSpPr>
        <p:spPr>
          <a:xfrm>
            <a:off x="1371600" y="314960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700">
                <a:solidFill>
                  <a:srgbClr val="1A1A1A"/>
                </a:solidFill>
                <a:latin typeface="Segoe UI" panose="020B0502040204020203" pitchFamily="34" charset="0"/>
              </a:rPr>
              <a:t>We publish none of our registration numbers.  In their place: “Russia FDA approved” — an agency that does not exist.</a:t>
            </a:r>
            <a:endParaRPr lang="ko-KR" altLang="en-US" sz="1700">
              <a:solidFill>
                <a:srgbClr val="1A1A1A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5E4338-8CA2-4196-856D-2DA37539240A}"/>
              </a:ext>
            </a:extLst>
          </p:cNvPr>
          <p:cNvSpPr txBox="1"/>
          <p:nvPr/>
        </p:nvSpPr>
        <p:spPr>
          <a:xfrm>
            <a:off x="762000" y="4064000"/>
            <a:ext cx="4318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600" b="1">
                <a:solidFill>
                  <a:srgbClr val="1F4E79"/>
                </a:solidFill>
                <a:latin typeface="Segoe UI" panose="020B0502040204020203" pitchFamily="34" charset="0"/>
              </a:rPr>
              <a:t>3</a:t>
            </a:r>
            <a:endParaRPr lang="ko-KR" altLang="en-US" sz="2600" b="1">
              <a:solidFill>
                <a:srgbClr val="1F4E79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E4D31A-A41C-4F6F-AFCF-626757B7EFC0}"/>
              </a:ext>
            </a:extLst>
          </p:cNvPr>
          <p:cNvSpPr txBox="1"/>
          <p:nvPr/>
        </p:nvSpPr>
        <p:spPr>
          <a:xfrm>
            <a:off x="1371600" y="4064000"/>
            <a:ext cx="10058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700">
                <a:solidFill>
                  <a:srgbClr val="1A1A1A"/>
                </a:solidFill>
                <a:latin typeface="Segoe UI" panose="020B0502040204020203" pitchFamily="34" charset="0"/>
              </a:rPr>
              <a:t>We don’t appear in our own search results.  Distributor sites come up before we do.</a:t>
            </a:r>
            <a:endParaRPr lang="ko-KR" altLang="en-US" sz="1700">
              <a:solidFill>
                <a:srgbClr val="1A1A1A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FE8F891-5B13-4D68-9A24-2632DCB6ED29}"/>
              </a:ext>
            </a:extLst>
          </p:cNvPr>
          <p:cNvSpPr/>
          <p:nvPr/>
        </p:nvSpPr>
        <p:spPr>
          <a:xfrm>
            <a:off x="762000" y="5080000"/>
            <a:ext cx="10668000" cy="787400"/>
          </a:xfrm>
          <a:prstGeom prst="rect">
            <a:avLst/>
          </a:prstGeom>
          <a:solidFill>
            <a:srgbClr val="EDED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AB527D-4671-494B-8ADC-8915DA45BEE3}"/>
              </a:ext>
            </a:extLst>
          </p:cNvPr>
          <p:cNvSpPr txBox="1"/>
          <p:nvPr/>
        </p:nvSpPr>
        <p:spPr>
          <a:xfrm>
            <a:off x="1016000" y="5257800"/>
            <a:ext cx="101600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900" b="1">
                <a:solidFill>
                  <a:srgbClr val="1A1A1A"/>
                </a:solidFill>
                <a:latin typeface="Segoe UI" panose="020B0502040204020203" pitchFamily="34" charset="0"/>
              </a:rPr>
              <a:t>The problem is not that we lack credentials. It is that we do not use the ones we already hold.</a:t>
            </a:r>
            <a:endParaRPr lang="ko-KR" altLang="en-US" sz="1900" b="1">
              <a:solidFill>
                <a:srgbClr val="1A1A1A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AF4391-62DB-455D-9F9D-8510DA260FB5}"/>
              </a:ext>
            </a:extLst>
          </p:cNvPr>
          <p:cNvSpPr txBox="1"/>
          <p:nvPr/>
        </p:nvSpPr>
        <p:spPr>
          <a:xfrm>
            <a:off x="762000" y="65024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6B6B6B"/>
                </a:solidFill>
                <a:latin typeface="Segoe UI" panose="020B0502040204020203" pitchFamily="34" charset="0"/>
              </a:rPr>
              <a:t>GANA GROUP  ·  Confidential — Internal</a:t>
            </a:r>
            <a:endParaRPr lang="ko-KR" altLang="en-US" sz="900">
              <a:solidFill>
                <a:srgbClr val="6B6B6B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022D63-DA62-4029-8421-C76D1F09C14D}"/>
              </a:ext>
            </a:extLst>
          </p:cNvPr>
          <p:cNvSpPr txBox="1"/>
          <p:nvPr/>
        </p:nvSpPr>
        <p:spPr>
          <a:xfrm>
            <a:off x="10922000" y="6502400"/>
            <a:ext cx="508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900">
                <a:solidFill>
                  <a:srgbClr val="6B6B6B"/>
                </a:solidFill>
                <a:latin typeface="Segoe UI" panose="020B0502040204020203" pitchFamily="34" charset="0"/>
              </a:rPr>
              <a:t>3</a:t>
            </a:r>
            <a:endParaRPr lang="ko-KR" altLang="en-US" sz="900">
              <a:solidFill>
                <a:srgbClr val="6B6B6B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8706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3AC2D70-D949-424B-ADC3-D3B24B966A6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F17F32-1431-45F0-8B69-118F3FAFEC87}"/>
              </a:ext>
            </a:extLst>
          </p:cNvPr>
          <p:cNvSpPr txBox="1"/>
          <p:nvPr/>
        </p:nvSpPr>
        <p:spPr>
          <a:xfrm>
            <a:off x="762000" y="1524000"/>
            <a:ext cx="10668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400" b="1">
                <a:solidFill>
                  <a:srgbClr val="1F4E79"/>
                </a:solidFill>
                <a:latin typeface="Segoe UI" panose="020B0502040204020203" pitchFamily="34" charset="0"/>
              </a:rPr>
              <a:t>03  ·  THE AXIS</a:t>
            </a:r>
            <a:endParaRPr lang="ko-KR" altLang="en-US" sz="1400" b="1">
              <a:solidFill>
                <a:srgbClr val="1F4E79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F9324CA-77A5-482F-A5BD-3903606DA72F}"/>
              </a:ext>
            </a:extLst>
          </p:cNvPr>
          <p:cNvSpPr/>
          <p:nvPr/>
        </p:nvSpPr>
        <p:spPr>
          <a:xfrm>
            <a:off x="787400" y="1981200"/>
            <a:ext cx="711200" cy="508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9E4821-CB4C-487E-8E1D-0F64DC9D9843}"/>
              </a:ext>
            </a:extLst>
          </p:cNvPr>
          <p:cNvSpPr txBox="1"/>
          <p:nvPr/>
        </p:nvSpPr>
        <p:spPr>
          <a:xfrm>
            <a:off x="762000" y="2667000"/>
            <a:ext cx="10668000" cy="14157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4600" b="1">
                <a:solidFill>
                  <a:srgbClr val="1A1A1A"/>
                </a:solidFill>
                <a:latin typeface="Segoe UI" panose="020B0502040204020203" pitchFamily="34" charset="0"/>
              </a:rPr>
              <a:t>Not a filler company.</a:t>
            </a:r>
          </a:p>
          <a:p>
            <a:r>
              <a:rPr lang="en-US" altLang="ko-KR" sz="4600" b="1">
                <a:solidFill>
                  <a:srgbClr val="1A1A1A"/>
                </a:solidFill>
                <a:latin typeface="Segoe UI" panose="020B0502040204020203" pitchFamily="34" charset="0"/>
              </a:rPr>
              <a:t>Bio-manufacturing infrastructure.</a:t>
            </a:r>
            <a:endParaRPr lang="ko-KR" altLang="en-US" sz="4600" b="1">
              <a:solidFill>
                <a:srgbClr val="1A1A1A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7AA39A-055B-4D76-AE8C-41A2AD4DFFD2}"/>
              </a:ext>
            </a:extLst>
          </p:cNvPr>
          <p:cNvSpPr txBox="1"/>
          <p:nvPr/>
        </p:nvSpPr>
        <p:spPr>
          <a:xfrm>
            <a:off x="762000" y="4927600"/>
            <a:ext cx="10668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>
                <a:solidFill>
                  <a:srgbClr val="6B6B6B"/>
                </a:solidFill>
                <a:latin typeface="Segoe UI" panose="020B0502040204020203" pitchFamily="34" charset="0"/>
              </a:rPr>
              <a:t>Most of this market are brands that outsource production. We are the manufacturer — and a competitor without a plant cannot copy that.</a:t>
            </a:r>
            <a:endParaRPr lang="ko-KR" altLang="en-US">
              <a:solidFill>
                <a:srgbClr val="6B6B6B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75C1E3-0756-48D6-BCFC-8AD56E56378B}"/>
              </a:ext>
            </a:extLst>
          </p:cNvPr>
          <p:cNvSpPr txBox="1"/>
          <p:nvPr/>
        </p:nvSpPr>
        <p:spPr>
          <a:xfrm>
            <a:off x="762000" y="65024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6B6B6B"/>
                </a:solidFill>
                <a:latin typeface="Segoe UI" panose="020B0502040204020203" pitchFamily="34" charset="0"/>
              </a:rPr>
              <a:t>GANA GROUP  ·  Confidential — Internal</a:t>
            </a:r>
            <a:endParaRPr lang="ko-KR" altLang="en-US" sz="900">
              <a:solidFill>
                <a:srgbClr val="6B6B6B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CAAC62-59FE-4CA1-A526-FF08A95DDD71}"/>
              </a:ext>
            </a:extLst>
          </p:cNvPr>
          <p:cNvSpPr txBox="1"/>
          <p:nvPr/>
        </p:nvSpPr>
        <p:spPr>
          <a:xfrm>
            <a:off x="10922000" y="6502400"/>
            <a:ext cx="508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900">
                <a:solidFill>
                  <a:srgbClr val="6B6B6B"/>
                </a:solidFill>
                <a:latin typeface="Segoe UI" panose="020B0502040204020203" pitchFamily="34" charset="0"/>
              </a:rPr>
              <a:t>4</a:t>
            </a:r>
            <a:endParaRPr lang="ko-KR" altLang="en-US" sz="900">
              <a:solidFill>
                <a:srgbClr val="6B6B6B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691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837B904-A26C-46FA-AA3D-8AD0189405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001323-393E-4525-B5AB-D935ADEE5C25}"/>
              </a:ext>
            </a:extLst>
          </p:cNvPr>
          <p:cNvSpPr txBox="1"/>
          <p:nvPr/>
        </p:nvSpPr>
        <p:spPr>
          <a:xfrm>
            <a:off x="762000" y="685800"/>
            <a:ext cx="1066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1F4E79"/>
                </a:solidFill>
                <a:latin typeface="Segoe UI" panose="020B0502040204020203" pitchFamily="34" charset="0"/>
              </a:rPr>
              <a:t>04  ·  WHAT IT DOES</a:t>
            </a:r>
            <a:endParaRPr lang="ko-KR" altLang="en-US" sz="1300" b="1">
              <a:solidFill>
                <a:srgbClr val="1F4E79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D4ECB6-28B5-499D-B034-B53C15B88C67}"/>
              </a:ext>
            </a:extLst>
          </p:cNvPr>
          <p:cNvSpPr txBox="1"/>
          <p:nvPr/>
        </p:nvSpPr>
        <p:spPr>
          <a:xfrm>
            <a:off x="762000" y="1041400"/>
            <a:ext cx="10668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3000" b="1">
                <a:solidFill>
                  <a:srgbClr val="1A1A1A"/>
                </a:solidFill>
                <a:latin typeface="Segoe UI" panose="020B0502040204020203" pitchFamily="34" charset="0"/>
              </a:rPr>
              <a:t>It does not remove the question. It changes it.</a:t>
            </a:r>
            <a:endParaRPr lang="ko-KR" altLang="en-US" sz="3000" b="1">
              <a:solidFill>
                <a:srgbClr val="1A1A1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A5293C-3709-40B8-82A4-AE83BA3412CC}"/>
              </a:ext>
            </a:extLst>
          </p:cNvPr>
          <p:cNvSpPr/>
          <p:nvPr/>
        </p:nvSpPr>
        <p:spPr>
          <a:xfrm>
            <a:off x="787400" y="1752600"/>
            <a:ext cx="711200" cy="381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C67A328-D533-49E4-8618-AFFAB3EC873E}"/>
              </a:ext>
            </a:extLst>
          </p:cNvPr>
          <p:cNvSpPr/>
          <p:nvPr/>
        </p:nvSpPr>
        <p:spPr>
          <a:xfrm>
            <a:off x="762000" y="2286000"/>
            <a:ext cx="5080000" cy="1905000"/>
          </a:xfrm>
          <a:prstGeom prst="rect">
            <a:avLst/>
          </a:prstGeom>
          <a:solidFill>
            <a:srgbClr val="EDED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44A1BE-2681-489A-B82D-587D2F669AC0}"/>
              </a:ext>
            </a:extLst>
          </p:cNvPr>
          <p:cNvSpPr txBox="1"/>
          <p:nvPr/>
        </p:nvSpPr>
        <p:spPr>
          <a:xfrm>
            <a:off x="1016000" y="2489200"/>
            <a:ext cx="4572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200" b="1">
                <a:solidFill>
                  <a:srgbClr val="6B6B6B"/>
                </a:solidFill>
                <a:latin typeface="Segoe UI" panose="020B0502040204020203" pitchFamily="34" charset="0"/>
              </a:rPr>
              <a:t>TODAY</a:t>
            </a:r>
            <a:endParaRPr lang="ko-KR" altLang="en-US" sz="1200" b="1">
              <a:solidFill>
                <a:srgbClr val="6B6B6B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7974F4-08E3-4C7B-BBC3-44013B4492CB}"/>
              </a:ext>
            </a:extLst>
          </p:cNvPr>
          <p:cNvSpPr txBox="1"/>
          <p:nvPr/>
        </p:nvSpPr>
        <p:spPr>
          <a:xfrm>
            <a:off x="1016000" y="2844800"/>
            <a:ext cx="457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000" b="1">
                <a:solidFill>
                  <a:srgbClr val="1A1A1A"/>
                </a:solidFill>
                <a:latin typeface="Segoe UI" panose="020B0502040204020203" pitchFamily="34" charset="0"/>
              </a:rPr>
              <a:t>“We care for aging”</a:t>
            </a:r>
            <a:endParaRPr lang="ko-KR" altLang="en-US" sz="2000" b="1">
              <a:solidFill>
                <a:srgbClr val="1A1A1A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A41EC0-3218-434B-AAD4-A50B6D90AE65}"/>
              </a:ext>
            </a:extLst>
          </p:cNvPr>
          <p:cNvSpPr txBox="1"/>
          <p:nvPr/>
        </p:nvSpPr>
        <p:spPr>
          <a:xfrm>
            <a:off x="1016000" y="3327400"/>
            <a:ext cx="4572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500">
                <a:solidFill>
                  <a:srgbClr val="1A1A1A"/>
                </a:solidFill>
                <a:latin typeface="Segoe UI" panose="020B0502040204020203" pitchFamily="34" charset="0"/>
              </a:rPr>
              <a:t>→  “How will you prove that?”</a:t>
            </a:r>
            <a:endParaRPr lang="ko-KR" altLang="en-US" sz="1500">
              <a:solidFill>
                <a:srgbClr val="1A1A1A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136EC4-D818-4093-AFF3-9F48F02A8156}"/>
              </a:ext>
            </a:extLst>
          </p:cNvPr>
          <p:cNvSpPr txBox="1"/>
          <p:nvPr/>
        </p:nvSpPr>
        <p:spPr>
          <a:xfrm>
            <a:off x="1016000" y="3759200"/>
            <a:ext cx="457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400" b="1">
                <a:solidFill>
                  <a:srgbClr val="C00000"/>
                </a:solidFill>
                <a:latin typeface="Segoe UI" panose="020B0502040204020203" pitchFamily="34" charset="0"/>
              </a:rPr>
              <a:t>no answer</a:t>
            </a:r>
            <a:endParaRPr lang="ko-KR" altLang="en-US" sz="1400" b="1">
              <a:solidFill>
                <a:srgbClr val="C00000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A3D22F7-7C80-4F43-AEBE-DA1252921156}"/>
              </a:ext>
            </a:extLst>
          </p:cNvPr>
          <p:cNvSpPr/>
          <p:nvPr/>
        </p:nvSpPr>
        <p:spPr>
          <a:xfrm>
            <a:off x="6350000" y="2286000"/>
            <a:ext cx="5080000" cy="1905000"/>
          </a:xfrm>
          <a:prstGeom prst="rect">
            <a:avLst/>
          </a:prstGeom>
          <a:solidFill>
            <a:srgbClr val="EDED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456B27-D559-48EA-A2FF-FBFD7DE662F1}"/>
              </a:ext>
            </a:extLst>
          </p:cNvPr>
          <p:cNvSpPr txBox="1"/>
          <p:nvPr/>
        </p:nvSpPr>
        <p:spPr>
          <a:xfrm>
            <a:off x="6604000" y="2489200"/>
            <a:ext cx="4572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200" b="1">
                <a:solidFill>
                  <a:srgbClr val="1F4E79"/>
                </a:solidFill>
                <a:latin typeface="Segoe UI" panose="020B0502040204020203" pitchFamily="34" charset="0"/>
              </a:rPr>
              <a:t>PROPOSED</a:t>
            </a:r>
            <a:endParaRPr lang="ko-KR" altLang="en-US" sz="1200" b="1">
              <a:solidFill>
                <a:srgbClr val="1F4E79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F8028B-16D4-4371-ABDB-51969633D536}"/>
              </a:ext>
            </a:extLst>
          </p:cNvPr>
          <p:cNvSpPr txBox="1"/>
          <p:nvPr/>
        </p:nvSpPr>
        <p:spPr>
          <a:xfrm>
            <a:off x="6604000" y="2844800"/>
            <a:ext cx="457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000" b="1">
                <a:solidFill>
                  <a:srgbClr val="1A1A1A"/>
                </a:solidFill>
                <a:latin typeface="Segoe UI" panose="020B0502040204020203" pitchFamily="34" charset="0"/>
              </a:rPr>
              <a:t>“We manufacture”</a:t>
            </a:r>
            <a:endParaRPr lang="ko-KR" altLang="en-US" sz="2000" b="1">
              <a:solidFill>
                <a:srgbClr val="1A1A1A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DB1BEC-CBE9-497C-AA23-D01FFDFCAEDF}"/>
              </a:ext>
            </a:extLst>
          </p:cNvPr>
          <p:cNvSpPr txBox="1"/>
          <p:nvPr/>
        </p:nvSpPr>
        <p:spPr>
          <a:xfrm>
            <a:off x="6604000" y="3327400"/>
            <a:ext cx="4572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500">
                <a:solidFill>
                  <a:srgbClr val="1A1A1A"/>
                </a:solidFill>
                <a:latin typeface="Segoe UI" panose="020B0502040204020203" pitchFamily="34" charset="0"/>
              </a:rPr>
              <a:t>→  “Show me.”</a:t>
            </a:r>
            <a:endParaRPr lang="ko-KR" altLang="en-US" sz="1500">
              <a:solidFill>
                <a:srgbClr val="1A1A1A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6C2644-F881-4AEF-B7C6-25D638EF50B6}"/>
              </a:ext>
            </a:extLst>
          </p:cNvPr>
          <p:cNvSpPr txBox="1"/>
          <p:nvPr/>
        </p:nvSpPr>
        <p:spPr>
          <a:xfrm>
            <a:off x="6604000" y="3759200"/>
            <a:ext cx="457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400" b="1">
                <a:solidFill>
                  <a:srgbClr val="1F4E79"/>
                </a:solidFill>
                <a:latin typeface="Segoe UI" panose="020B0502040204020203" pitchFamily="34" charset="0"/>
              </a:rPr>
              <a:t>the answer is in the drawer</a:t>
            </a:r>
            <a:endParaRPr lang="ko-KR" altLang="en-US" sz="1400" b="1">
              <a:solidFill>
                <a:srgbClr val="1F4E79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43A87C-28B3-4248-961D-39EDE8AEE2E8}"/>
              </a:ext>
            </a:extLst>
          </p:cNvPr>
          <p:cNvSpPr txBox="1"/>
          <p:nvPr/>
        </p:nvSpPr>
        <p:spPr>
          <a:xfrm>
            <a:off x="762000" y="4724400"/>
            <a:ext cx="10668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200" b="1">
                <a:solidFill>
                  <a:srgbClr val="1A1A1A"/>
                </a:solidFill>
                <a:latin typeface="Segoe UI" panose="020B0502040204020203" pitchFamily="34" charset="0"/>
              </a:rPr>
              <a:t>The question does not disappear. It becomes one we can answer.</a:t>
            </a:r>
            <a:endParaRPr lang="ko-KR" altLang="en-US" sz="2200" b="1">
              <a:solidFill>
                <a:srgbClr val="1A1A1A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579DDE-2498-4BB2-8C54-F4E453740A21}"/>
              </a:ext>
            </a:extLst>
          </p:cNvPr>
          <p:cNvSpPr txBox="1"/>
          <p:nvPr/>
        </p:nvSpPr>
        <p:spPr>
          <a:xfrm>
            <a:off x="762000" y="65024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6B6B6B"/>
                </a:solidFill>
                <a:latin typeface="Segoe UI" panose="020B0502040204020203" pitchFamily="34" charset="0"/>
              </a:rPr>
              <a:t>GANA GROUP  ·  Confidential — Internal</a:t>
            </a:r>
            <a:endParaRPr lang="ko-KR" altLang="en-US" sz="900">
              <a:solidFill>
                <a:srgbClr val="6B6B6B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BD0FC0-E26F-480D-9B9E-F8EB43CF0E76}"/>
              </a:ext>
            </a:extLst>
          </p:cNvPr>
          <p:cNvSpPr txBox="1"/>
          <p:nvPr/>
        </p:nvSpPr>
        <p:spPr>
          <a:xfrm>
            <a:off x="10922000" y="6502400"/>
            <a:ext cx="508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900">
                <a:solidFill>
                  <a:srgbClr val="6B6B6B"/>
                </a:solidFill>
                <a:latin typeface="Segoe UI" panose="020B0502040204020203" pitchFamily="34" charset="0"/>
              </a:rPr>
              <a:t>5</a:t>
            </a:r>
            <a:endParaRPr lang="ko-KR" altLang="en-US" sz="900">
              <a:solidFill>
                <a:srgbClr val="6B6B6B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5480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5F41AF0-96AE-491A-8B90-EF6E8796DE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C6BE21-86BE-42E4-810F-982C7B45C72E}"/>
              </a:ext>
            </a:extLst>
          </p:cNvPr>
          <p:cNvSpPr txBox="1"/>
          <p:nvPr/>
        </p:nvSpPr>
        <p:spPr>
          <a:xfrm>
            <a:off x="762000" y="685800"/>
            <a:ext cx="1066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1F4E79"/>
                </a:solidFill>
                <a:latin typeface="Segoe UI" panose="020B0502040204020203" pitchFamily="34" charset="0"/>
              </a:rPr>
              <a:t>05  ·  THE EVIDENCE</a:t>
            </a:r>
            <a:endParaRPr lang="ko-KR" altLang="en-US" sz="1300" b="1">
              <a:solidFill>
                <a:srgbClr val="1F4E79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73DB20-C315-4EE3-9E1F-DD36E88904EF}"/>
              </a:ext>
            </a:extLst>
          </p:cNvPr>
          <p:cNvSpPr txBox="1"/>
          <p:nvPr/>
        </p:nvSpPr>
        <p:spPr>
          <a:xfrm>
            <a:off x="762000" y="1041400"/>
            <a:ext cx="10668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3000" b="1">
                <a:solidFill>
                  <a:srgbClr val="1A1A1A"/>
                </a:solidFill>
                <a:latin typeface="Segoe UI" panose="020B0502040204020203" pitchFamily="34" charset="0"/>
              </a:rPr>
              <a:t>38 registrations · five jurisdictions</a:t>
            </a:r>
            <a:endParaRPr lang="ko-KR" altLang="en-US" sz="3000" b="1">
              <a:solidFill>
                <a:srgbClr val="1A1A1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A45C99A-BC4D-43C2-A728-D280402CE422}"/>
              </a:ext>
            </a:extLst>
          </p:cNvPr>
          <p:cNvSpPr/>
          <p:nvPr/>
        </p:nvSpPr>
        <p:spPr>
          <a:xfrm>
            <a:off x="787400" y="1752600"/>
            <a:ext cx="711200" cy="381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5435F6-2756-4EDB-930C-9E0E9B9B1F79}"/>
              </a:ext>
            </a:extLst>
          </p:cNvPr>
          <p:cNvSpPr txBox="1"/>
          <p:nvPr/>
        </p:nvSpPr>
        <p:spPr>
          <a:xfrm>
            <a:off x="762000" y="2108200"/>
            <a:ext cx="254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500" b="1">
                <a:solidFill>
                  <a:srgbClr val="1A1A1A"/>
                </a:solidFill>
                <a:latin typeface="Segoe UI" panose="020B0502040204020203" pitchFamily="34" charset="0"/>
              </a:rPr>
              <a:t>United Kingdom</a:t>
            </a:r>
            <a:endParaRPr lang="ko-KR" altLang="en-US" sz="1500" b="1">
              <a:solidFill>
                <a:srgbClr val="1A1A1A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0A62D7-63C6-4035-8C2C-DC59897DA7A0}"/>
              </a:ext>
            </a:extLst>
          </p:cNvPr>
          <p:cNvSpPr txBox="1"/>
          <p:nvPr/>
        </p:nvSpPr>
        <p:spPr>
          <a:xfrm>
            <a:off x="3556000" y="2108200"/>
            <a:ext cx="317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500" b="1">
                <a:solidFill>
                  <a:srgbClr val="1F4E79"/>
                </a:solidFill>
                <a:latin typeface="Segoe UI" panose="020B0502040204020203" pitchFamily="34" charset="0"/>
              </a:rPr>
              <a:t>MHRA — Class III</a:t>
            </a:r>
            <a:endParaRPr lang="ko-KR" altLang="en-US" sz="1500" b="1">
              <a:solidFill>
                <a:srgbClr val="1F4E79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3B6F88-7FA6-42B7-9C54-8DEE07E98C63}"/>
              </a:ext>
            </a:extLst>
          </p:cNvPr>
          <p:cNvSpPr txBox="1"/>
          <p:nvPr/>
        </p:nvSpPr>
        <p:spPr>
          <a:xfrm>
            <a:off x="6921500" y="2108200"/>
            <a:ext cx="4508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6B6B6B"/>
                </a:solidFill>
                <a:latin typeface="Segoe UI" panose="020B0502040204020203" pitchFamily="34" charset="0"/>
              </a:rPr>
              <a:t>Highest risk class · our strongest single credential</a:t>
            </a:r>
            <a:endParaRPr lang="ko-KR" altLang="en-US" sz="1300">
              <a:solidFill>
                <a:srgbClr val="6B6B6B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D871CA0-3CCA-4D62-B28C-0C72EF691D1C}"/>
              </a:ext>
            </a:extLst>
          </p:cNvPr>
          <p:cNvSpPr/>
          <p:nvPr/>
        </p:nvSpPr>
        <p:spPr>
          <a:xfrm>
            <a:off x="762000" y="2667000"/>
            <a:ext cx="10668000" cy="12700"/>
          </a:xfrm>
          <a:prstGeom prst="rect">
            <a:avLst/>
          </a:prstGeom>
          <a:solidFill>
            <a:srgbClr val="EDED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CC416B-7FD7-4A15-BFBF-5320D812B63D}"/>
              </a:ext>
            </a:extLst>
          </p:cNvPr>
          <p:cNvSpPr txBox="1"/>
          <p:nvPr/>
        </p:nvSpPr>
        <p:spPr>
          <a:xfrm>
            <a:off x="762000" y="2819400"/>
            <a:ext cx="254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500" b="1">
                <a:solidFill>
                  <a:srgbClr val="1A1A1A"/>
                </a:solidFill>
                <a:latin typeface="Segoe UI" panose="020B0502040204020203" pitchFamily="34" charset="0"/>
              </a:rPr>
              <a:t>European Union</a:t>
            </a:r>
            <a:endParaRPr lang="ko-KR" altLang="en-US" sz="1500" b="1">
              <a:solidFill>
                <a:srgbClr val="1A1A1A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B013CA-C6BB-45A6-97EA-ED77EA9159B8}"/>
              </a:ext>
            </a:extLst>
          </p:cNvPr>
          <p:cNvSpPr txBox="1"/>
          <p:nvPr/>
        </p:nvSpPr>
        <p:spPr>
          <a:xfrm>
            <a:off x="3556000" y="2819400"/>
            <a:ext cx="317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500" b="1">
                <a:solidFill>
                  <a:srgbClr val="1F4E79"/>
                </a:solidFill>
                <a:latin typeface="Segoe UI" panose="020B0502040204020203" pitchFamily="34" charset="0"/>
              </a:rPr>
              <a:t>EUDAMED — Manufacturer SRN</a:t>
            </a:r>
            <a:endParaRPr lang="ko-KR" altLang="en-US" sz="1500" b="1">
              <a:solidFill>
                <a:srgbClr val="1F4E79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8B86FB-E2E3-42EC-8122-FE51AC3943C1}"/>
              </a:ext>
            </a:extLst>
          </p:cNvPr>
          <p:cNvSpPr txBox="1"/>
          <p:nvPr/>
        </p:nvSpPr>
        <p:spPr>
          <a:xfrm>
            <a:off x="6921500" y="2819400"/>
            <a:ext cx="4508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6B6B6B"/>
                </a:solidFill>
                <a:latin typeface="Segoe UI" panose="020B0502040204020203" pitchFamily="34" charset="0"/>
              </a:rPr>
              <a:t>Active manufacturer registration</a:t>
            </a:r>
            <a:endParaRPr lang="ko-KR" altLang="en-US" sz="1300">
              <a:solidFill>
                <a:srgbClr val="6B6B6B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237A4C0-CCDD-4AA6-953B-6D2F77EB500A}"/>
              </a:ext>
            </a:extLst>
          </p:cNvPr>
          <p:cNvSpPr/>
          <p:nvPr/>
        </p:nvSpPr>
        <p:spPr>
          <a:xfrm>
            <a:off x="762000" y="3378200"/>
            <a:ext cx="10668000" cy="12700"/>
          </a:xfrm>
          <a:prstGeom prst="rect">
            <a:avLst/>
          </a:prstGeom>
          <a:solidFill>
            <a:srgbClr val="EDED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1C9630-B02B-4F70-A057-65B9905F3C0D}"/>
              </a:ext>
            </a:extLst>
          </p:cNvPr>
          <p:cNvSpPr txBox="1"/>
          <p:nvPr/>
        </p:nvSpPr>
        <p:spPr>
          <a:xfrm>
            <a:off x="762000" y="3530600"/>
            <a:ext cx="254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500" b="1">
                <a:solidFill>
                  <a:srgbClr val="1A1A1A"/>
                </a:solidFill>
                <a:latin typeface="Segoe UI" panose="020B0502040204020203" pitchFamily="34" charset="0"/>
              </a:rPr>
              <a:t>Brazil</a:t>
            </a:r>
            <a:endParaRPr lang="ko-KR" altLang="en-US" sz="1500" b="1">
              <a:solidFill>
                <a:srgbClr val="1A1A1A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CDDB29-D81C-4A75-BB8E-5AE6D3B44B51}"/>
              </a:ext>
            </a:extLst>
          </p:cNvPr>
          <p:cNvSpPr txBox="1"/>
          <p:nvPr/>
        </p:nvSpPr>
        <p:spPr>
          <a:xfrm>
            <a:off x="3556000" y="3530600"/>
            <a:ext cx="317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500" b="1">
                <a:solidFill>
                  <a:srgbClr val="1F4E79"/>
                </a:solidFill>
                <a:latin typeface="Segoe UI" panose="020B0502040204020203" pitchFamily="34" charset="0"/>
              </a:rPr>
              <a:t>ANVISA — 2</a:t>
            </a:r>
            <a:endParaRPr lang="ko-KR" altLang="en-US" sz="1500" b="1">
              <a:solidFill>
                <a:srgbClr val="1F4E79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B297C8-C5EF-4C15-A819-C6FCE98A95DE}"/>
              </a:ext>
            </a:extLst>
          </p:cNvPr>
          <p:cNvSpPr txBox="1"/>
          <p:nvPr/>
        </p:nvSpPr>
        <p:spPr>
          <a:xfrm>
            <a:off x="6921500" y="3530600"/>
            <a:ext cx="4508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6B6B6B"/>
                </a:solidFill>
                <a:latin typeface="Segoe UI" panose="020B0502040204020203" pitchFamily="34" charset="0"/>
              </a:rPr>
              <a:t>Highest risk class</a:t>
            </a:r>
            <a:endParaRPr lang="ko-KR" altLang="en-US" sz="1300">
              <a:solidFill>
                <a:srgbClr val="6B6B6B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B139F50-A9EF-4B42-9F85-81F7AF00EF90}"/>
              </a:ext>
            </a:extLst>
          </p:cNvPr>
          <p:cNvSpPr/>
          <p:nvPr/>
        </p:nvSpPr>
        <p:spPr>
          <a:xfrm>
            <a:off x="762000" y="4089400"/>
            <a:ext cx="10668000" cy="12700"/>
          </a:xfrm>
          <a:prstGeom prst="rect">
            <a:avLst/>
          </a:prstGeom>
          <a:solidFill>
            <a:srgbClr val="EDED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618019-6DF8-4B44-A966-217A29749945}"/>
              </a:ext>
            </a:extLst>
          </p:cNvPr>
          <p:cNvSpPr txBox="1"/>
          <p:nvPr/>
        </p:nvSpPr>
        <p:spPr>
          <a:xfrm>
            <a:off x="762000" y="4241800"/>
            <a:ext cx="254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500" b="1">
                <a:solidFill>
                  <a:srgbClr val="1A1A1A"/>
                </a:solidFill>
                <a:latin typeface="Segoe UI" panose="020B0502040204020203" pitchFamily="34" charset="0"/>
              </a:rPr>
              <a:t>Russia</a:t>
            </a:r>
            <a:endParaRPr lang="ko-KR" altLang="en-US" sz="1500" b="1">
              <a:solidFill>
                <a:srgbClr val="1A1A1A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099467-A0D2-4E69-BE89-2115D06A7372}"/>
              </a:ext>
            </a:extLst>
          </p:cNvPr>
          <p:cNvSpPr txBox="1"/>
          <p:nvPr/>
        </p:nvSpPr>
        <p:spPr>
          <a:xfrm>
            <a:off x="3556000" y="4241800"/>
            <a:ext cx="317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500" b="1">
                <a:solidFill>
                  <a:srgbClr val="1F4E79"/>
                </a:solidFill>
                <a:latin typeface="Segoe UI" panose="020B0502040204020203" pitchFamily="34" charset="0"/>
              </a:rPr>
              <a:t>Roszdravnadzor — 8</a:t>
            </a:r>
            <a:endParaRPr lang="ko-KR" altLang="en-US" sz="1500" b="1">
              <a:solidFill>
                <a:srgbClr val="1F4E79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FD9189-098D-4535-AC1D-0933B67178B5}"/>
              </a:ext>
            </a:extLst>
          </p:cNvPr>
          <p:cNvSpPr txBox="1"/>
          <p:nvPr/>
        </p:nvSpPr>
        <p:spPr>
          <a:xfrm>
            <a:off x="6921500" y="4241800"/>
            <a:ext cx="4508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6B6B6B"/>
                </a:solidFill>
                <a:latin typeface="Segoe UI" panose="020B0502040204020203" pitchFamily="34" charset="0"/>
              </a:rPr>
              <a:t>Four material families under one manufacturer</a:t>
            </a:r>
            <a:endParaRPr lang="ko-KR" altLang="en-US" sz="1300">
              <a:solidFill>
                <a:srgbClr val="6B6B6B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6A3F749-DF52-4754-9CFB-660C6B788741}"/>
              </a:ext>
            </a:extLst>
          </p:cNvPr>
          <p:cNvSpPr/>
          <p:nvPr/>
        </p:nvSpPr>
        <p:spPr>
          <a:xfrm>
            <a:off x="762000" y="4800600"/>
            <a:ext cx="10668000" cy="12700"/>
          </a:xfrm>
          <a:prstGeom prst="rect">
            <a:avLst/>
          </a:prstGeom>
          <a:solidFill>
            <a:srgbClr val="EDED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9B7B1F-51D2-432F-A0C3-18F65348CF70}"/>
              </a:ext>
            </a:extLst>
          </p:cNvPr>
          <p:cNvSpPr txBox="1"/>
          <p:nvPr/>
        </p:nvSpPr>
        <p:spPr>
          <a:xfrm>
            <a:off x="762000" y="4953000"/>
            <a:ext cx="254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500" b="1">
                <a:solidFill>
                  <a:srgbClr val="1A1A1A"/>
                </a:solidFill>
                <a:latin typeface="Segoe UI" panose="020B0502040204020203" pitchFamily="34" charset="0"/>
              </a:rPr>
              <a:t>Korea</a:t>
            </a:r>
            <a:endParaRPr lang="ko-KR" altLang="en-US" sz="1500" b="1">
              <a:solidFill>
                <a:srgbClr val="1A1A1A"/>
              </a:solidFill>
              <a:latin typeface="Segoe UI" panose="020B050204020402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B1270E-35C6-458C-B212-199B56BDA180}"/>
              </a:ext>
            </a:extLst>
          </p:cNvPr>
          <p:cNvSpPr txBox="1"/>
          <p:nvPr/>
        </p:nvSpPr>
        <p:spPr>
          <a:xfrm>
            <a:off x="3556000" y="4953000"/>
            <a:ext cx="317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500" b="1">
                <a:solidFill>
                  <a:srgbClr val="1F4E79"/>
                </a:solidFill>
                <a:latin typeface="Segoe UI" panose="020B0502040204020203" pitchFamily="34" charset="0"/>
              </a:rPr>
              <a:t>MFDS — 27</a:t>
            </a:r>
            <a:endParaRPr lang="ko-KR" altLang="en-US" sz="1500" b="1">
              <a:solidFill>
                <a:srgbClr val="1F4E79"/>
              </a:solidFill>
              <a:latin typeface="Segoe UI" panose="020B050204020402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63DCEC-4F90-4A86-B514-E951AF7ECE18}"/>
              </a:ext>
            </a:extLst>
          </p:cNvPr>
          <p:cNvSpPr txBox="1"/>
          <p:nvPr/>
        </p:nvSpPr>
        <p:spPr>
          <a:xfrm>
            <a:off x="6921500" y="4953000"/>
            <a:ext cx="4508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6B6B6B"/>
                </a:solidFill>
                <a:latin typeface="Segoe UI" panose="020B0502040204020203" pitchFamily="34" charset="0"/>
              </a:rPr>
              <a:t>Plus a GMP certificate valid to March 2027</a:t>
            </a:r>
            <a:endParaRPr lang="ko-KR" altLang="en-US" sz="1300">
              <a:solidFill>
                <a:srgbClr val="6B6B6B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0394D34-A8DE-4E2A-8478-25D463E997B3}"/>
              </a:ext>
            </a:extLst>
          </p:cNvPr>
          <p:cNvSpPr/>
          <p:nvPr/>
        </p:nvSpPr>
        <p:spPr>
          <a:xfrm>
            <a:off x="762000" y="5511800"/>
            <a:ext cx="10668000" cy="12700"/>
          </a:xfrm>
          <a:prstGeom prst="rect">
            <a:avLst/>
          </a:prstGeom>
          <a:solidFill>
            <a:srgbClr val="EDED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019145-29F7-4B09-B4BB-CEBDC9DD0240}"/>
              </a:ext>
            </a:extLst>
          </p:cNvPr>
          <p:cNvSpPr txBox="1"/>
          <p:nvPr/>
        </p:nvSpPr>
        <p:spPr>
          <a:xfrm>
            <a:off x="762000" y="5816600"/>
            <a:ext cx="1066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1A1A1A"/>
                </a:solidFill>
                <a:latin typeface="Segoe UI" panose="020B0502040204020203" pitchFamily="34" charset="0"/>
              </a:rPr>
              <a:t>GANA R&amp;D is named as the manufacturer on every one.  Numbers available on request.</a:t>
            </a:r>
            <a:endParaRPr lang="ko-KR" altLang="en-US" sz="1300" b="1">
              <a:solidFill>
                <a:srgbClr val="1A1A1A"/>
              </a:solidFill>
              <a:latin typeface="Segoe UI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44E71D-D4B8-4D19-891B-59B240B83426}"/>
              </a:ext>
            </a:extLst>
          </p:cNvPr>
          <p:cNvSpPr txBox="1"/>
          <p:nvPr/>
        </p:nvSpPr>
        <p:spPr>
          <a:xfrm>
            <a:off x="762000" y="65024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6B6B6B"/>
                </a:solidFill>
                <a:latin typeface="Segoe UI" panose="020B0502040204020203" pitchFamily="34" charset="0"/>
              </a:rPr>
              <a:t>GANA GROUP  ·  Confidential — Internal</a:t>
            </a:r>
            <a:endParaRPr lang="ko-KR" altLang="en-US" sz="900">
              <a:solidFill>
                <a:srgbClr val="6B6B6B"/>
              </a:solidFill>
              <a:latin typeface="Segoe UI" panose="020B05020402040202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A4FD03C-AD12-4722-B459-EA13E4C4E65F}"/>
              </a:ext>
            </a:extLst>
          </p:cNvPr>
          <p:cNvSpPr txBox="1"/>
          <p:nvPr/>
        </p:nvSpPr>
        <p:spPr>
          <a:xfrm>
            <a:off x="10922000" y="6502400"/>
            <a:ext cx="508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900">
                <a:solidFill>
                  <a:srgbClr val="6B6B6B"/>
                </a:solidFill>
                <a:latin typeface="Segoe UI" panose="020B0502040204020203" pitchFamily="34" charset="0"/>
              </a:rPr>
              <a:t>6</a:t>
            </a:r>
            <a:endParaRPr lang="ko-KR" altLang="en-US" sz="900">
              <a:solidFill>
                <a:srgbClr val="6B6B6B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649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FC314CC-5029-4E37-B048-0EA8975A2E1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4F75E5-FBDE-4F1E-A427-15EFE2E66173}"/>
              </a:ext>
            </a:extLst>
          </p:cNvPr>
          <p:cNvSpPr txBox="1"/>
          <p:nvPr/>
        </p:nvSpPr>
        <p:spPr>
          <a:xfrm>
            <a:off x="762000" y="685800"/>
            <a:ext cx="1066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1F4E79"/>
                </a:solidFill>
                <a:latin typeface="Segoe UI" panose="020B0502040204020203" pitchFamily="34" charset="0"/>
              </a:rPr>
              <a:t>06  ·  HOW WE SAY IT</a:t>
            </a:r>
            <a:endParaRPr lang="ko-KR" altLang="en-US" sz="1300" b="1">
              <a:solidFill>
                <a:srgbClr val="1F4E79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A78CF9-9725-4DB1-B875-F4BBF1BD44D6}"/>
              </a:ext>
            </a:extLst>
          </p:cNvPr>
          <p:cNvSpPr txBox="1"/>
          <p:nvPr/>
        </p:nvSpPr>
        <p:spPr>
          <a:xfrm>
            <a:off x="762000" y="1041400"/>
            <a:ext cx="10668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3000" b="1">
                <a:solidFill>
                  <a:srgbClr val="1A1A1A"/>
                </a:solidFill>
                <a:latin typeface="Segoe UI" panose="020B0502040204020203" pitchFamily="34" charset="0"/>
              </a:rPr>
              <a:t>The claim is not the same at every depth</a:t>
            </a:r>
            <a:endParaRPr lang="ko-KR" altLang="en-US" sz="3000" b="1">
              <a:solidFill>
                <a:srgbClr val="1A1A1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808B64B-A9C9-4EE8-998F-9806C0EF33A3}"/>
              </a:ext>
            </a:extLst>
          </p:cNvPr>
          <p:cNvSpPr/>
          <p:nvPr/>
        </p:nvSpPr>
        <p:spPr>
          <a:xfrm>
            <a:off x="787400" y="1752600"/>
            <a:ext cx="711200" cy="381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15FC82-44DC-4DB3-9348-7D80AF79CA68}"/>
              </a:ext>
            </a:extLst>
          </p:cNvPr>
          <p:cNvSpPr txBox="1"/>
          <p:nvPr/>
        </p:nvSpPr>
        <p:spPr>
          <a:xfrm>
            <a:off x="762000" y="2159000"/>
            <a:ext cx="2286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400" b="1">
                <a:solidFill>
                  <a:srgbClr val="1F4E79"/>
                </a:solidFill>
                <a:latin typeface="Segoe UI" panose="020B0502040204020203" pitchFamily="34" charset="0"/>
              </a:rPr>
              <a:t>SURFACE</a:t>
            </a:r>
            <a:endParaRPr lang="ko-KR" altLang="en-US" sz="1400" b="1">
              <a:solidFill>
                <a:srgbClr val="1F4E79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7AF6CC-839A-4868-8642-CF2EC3E09848}"/>
              </a:ext>
            </a:extLst>
          </p:cNvPr>
          <p:cNvSpPr txBox="1"/>
          <p:nvPr/>
        </p:nvSpPr>
        <p:spPr>
          <a:xfrm>
            <a:off x="762000" y="2463800"/>
            <a:ext cx="228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200">
                <a:solidFill>
                  <a:srgbClr val="6B6B6B"/>
                </a:solidFill>
                <a:latin typeface="Segoe UI" panose="020B0502040204020203" pitchFamily="34" charset="0"/>
              </a:rPr>
              <a:t>fillers, materials</a:t>
            </a:r>
            <a:endParaRPr lang="ko-KR" altLang="en-US" sz="1200">
              <a:solidFill>
                <a:srgbClr val="6B6B6B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8B9BC7-FB4D-451F-8952-DA59D1970903}"/>
              </a:ext>
            </a:extLst>
          </p:cNvPr>
          <p:cNvSpPr txBox="1"/>
          <p:nvPr/>
        </p:nvSpPr>
        <p:spPr>
          <a:xfrm>
            <a:off x="3302000" y="2159000"/>
            <a:ext cx="812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b="1">
                <a:solidFill>
                  <a:srgbClr val="1A1A1A"/>
                </a:solidFill>
                <a:latin typeface="Segoe UI" panose="020B0502040204020203" pitchFamily="34" charset="0"/>
              </a:rPr>
              <a:t>“We made it.”</a:t>
            </a:r>
            <a:endParaRPr lang="ko-KR" altLang="en-US" b="1">
              <a:solidFill>
                <a:srgbClr val="1A1A1A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90FDF8-23BB-4827-B552-0BC29C32CC49}"/>
              </a:ext>
            </a:extLst>
          </p:cNvPr>
          <p:cNvSpPr txBox="1"/>
          <p:nvPr/>
        </p:nvSpPr>
        <p:spPr>
          <a:xfrm>
            <a:off x="3302000" y="2540000"/>
            <a:ext cx="812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200">
                <a:solidFill>
                  <a:srgbClr val="6B6B6B"/>
                </a:solidFill>
                <a:latin typeface="Segoe UI" panose="020B0502040204020203" pitchFamily="34" charset="0"/>
              </a:rPr>
              <a:t>registration numbers</a:t>
            </a:r>
            <a:endParaRPr lang="ko-KR" altLang="en-US" sz="1200">
              <a:solidFill>
                <a:srgbClr val="6B6B6B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1297705-4447-436A-8A10-ADB281B3B0B0}"/>
              </a:ext>
            </a:extLst>
          </p:cNvPr>
          <p:cNvSpPr/>
          <p:nvPr/>
        </p:nvSpPr>
        <p:spPr>
          <a:xfrm>
            <a:off x="762000" y="2946400"/>
            <a:ext cx="10668000" cy="12700"/>
          </a:xfrm>
          <a:prstGeom prst="rect">
            <a:avLst/>
          </a:prstGeom>
          <a:solidFill>
            <a:srgbClr val="EDED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F6ECC7-6085-4981-A6C8-CCF543FDF627}"/>
              </a:ext>
            </a:extLst>
          </p:cNvPr>
          <p:cNvSpPr txBox="1"/>
          <p:nvPr/>
        </p:nvSpPr>
        <p:spPr>
          <a:xfrm>
            <a:off x="762000" y="3149600"/>
            <a:ext cx="2286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400" b="1">
                <a:solidFill>
                  <a:srgbClr val="1F4E79"/>
                </a:solidFill>
                <a:latin typeface="Segoe UI" panose="020B0502040204020203" pitchFamily="34" charset="0"/>
              </a:rPr>
              <a:t>TISSUE</a:t>
            </a:r>
            <a:endParaRPr lang="ko-KR" altLang="en-US" sz="1400" b="1">
              <a:solidFill>
                <a:srgbClr val="1F4E79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865C5E-A5BA-4EB6-8989-ED507CD9327B}"/>
              </a:ext>
            </a:extLst>
          </p:cNvPr>
          <p:cNvSpPr txBox="1"/>
          <p:nvPr/>
        </p:nvSpPr>
        <p:spPr>
          <a:xfrm>
            <a:off x="762000" y="3454400"/>
            <a:ext cx="228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200">
                <a:solidFill>
                  <a:srgbClr val="6B6B6B"/>
                </a:solidFill>
                <a:latin typeface="Segoe UI" panose="020B0502040204020203" pitchFamily="34" charset="0"/>
              </a:rPr>
              <a:t>wound care</a:t>
            </a:r>
            <a:endParaRPr lang="ko-KR" altLang="en-US" sz="1200">
              <a:solidFill>
                <a:srgbClr val="6B6B6B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3315F5-AFE6-4976-B55B-31B0C10CAB41}"/>
              </a:ext>
            </a:extLst>
          </p:cNvPr>
          <p:cNvSpPr txBox="1"/>
          <p:nvPr/>
        </p:nvSpPr>
        <p:spPr>
          <a:xfrm>
            <a:off x="3302000" y="3149600"/>
            <a:ext cx="812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b="1">
                <a:solidFill>
                  <a:srgbClr val="1A1A1A"/>
                </a:solidFill>
                <a:latin typeface="Segoe UI" panose="020B0502040204020203" pitchFamily="34" charset="0"/>
              </a:rPr>
              <a:t>“It’s already registered.”</a:t>
            </a:r>
            <a:endParaRPr lang="ko-KR" altLang="en-US" b="1">
              <a:solidFill>
                <a:srgbClr val="1A1A1A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91E5EE-B41E-4206-BEA3-78B925F19633}"/>
              </a:ext>
            </a:extLst>
          </p:cNvPr>
          <p:cNvSpPr txBox="1"/>
          <p:nvPr/>
        </p:nvSpPr>
        <p:spPr>
          <a:xfrm>
            <a:off x="3302000" y="3530600"/>
            <a:ext cx="812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200">
                <a:solidFill>
                  <a:srgbClr val="6B6B6B"/>
                </a:solidFill>
                <a:latin typeface="Segoe UI" panose="020B0502040204020203" pitchFamily="34" charset="0"/>
              </a:rPr>
              <a:t>the number</a:t>
            </a:r>
            <a:endParaRPr lang="ko-KR" altLang="en-US" sz="1200">
              <a:solidFill>
                <a:srgbClr val="6B6B6B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77C048F-19CA-4FB8-8E75-15C684E1A9DE}"/>
              </a:ext>
            </a:extLst>
          </p:cNvPr>
          <p:cNvSpPr/>
          <p:nvPr/>
        </p:nvSpPr>
        <p:spPr>
          <a:xfrm>
            <a:off x="762000" y="3937000"/>
            <a:ext cx="10668000" cy="12700"/>
          </a:xfrm>
          <a:prstGeom prst="rect">
            <a:avLst/>
          </a:prstGeom>
          <a:solidFill>
            <a:srgbClr val="EDED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12120D-3715-457C-AF32-F5B22102D824}"/>
              </a:ext>
            </a:extLst>
          </p:cNvPr>
          <p:cNvSpPr txBox="1"/>
          <p:nvPr/>
        </p:nvSpPr>
        <p:spPr>
          <a:xfrm>
            <a:off x="762000" y="4140200"/>
            <a:ext cx="2286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400" b="1">
                <a:solidFill>
                  <a:srgbClr val="1F4E79"/>
                </a:solidFill>
                <a:latin typeface="Segoe UI" panose="020B0502040204020203" pitchFamily="34" charset="0"/>
              </a:rPr>
              <a:t>CELL &amp; GENE</a:t>
            </a:r>
            <a:endParaRPr lang="ko-KR" altLang="en-US" sz="1400" b="1">
              <a:solidFill>
                <a:srgbClr val="1F4E79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28BF78-B213-4C11-BA52-4922FE13B0BA}"/>
              </a:ext>
            </a:extLst>
          </p:cNvPr>
          <p:cNvSpPr txBox="1"/>
          <p:nvPr/>
        </p:nvSpPr>
        <p:spPr>
          <a:xfrm>
            <a:off x="762000" y="4445000"/>
            <a:ext cx="228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200">
                <a:solidFill>
                  <a:srgbClr val="6B6B6B"/>
                </a:solidFill>
                <a:latin typeface="Segoe UI" panose="020B0502040204020203" pitchFamily="34" charset="0"/>
              </a:rPr>
              <a:t>AAV</a:t>
            </a:r>
            <a:endParaRPr lang="ko-KR" altLang="en-US" sz="1200">
              <a:solidFill>
                <a:srgbClr val="6B6B6B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EC00E7-C85E-44F7-AB7C-9702EAA7F3C3}"/>
              </a:ext>
            </a:extLst>
          </p:cNvPr>
          <p:cNvSpPr txBox="1"/>
          <p:nvPr/>
        </p:nvSpPr>
        <p:spPr>
          <a:xfrm>
            <a:off x="3302000" y="4140200"/>
            <a:ext cx="812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b="1">
                <a:solidFill>
                  <a:srgbClr val="1A1A1A"/>
                </a:solidFill>
                <a:latin typeface="Segoe UI" panose="020B0502040204020203" pitchFamily="34" charset="0"/>
              </a:rPr>
              <a:t>“We’ve built it. Certification is the 2026 target.”</a:t>
            </a:r>
            <a:endParaRPr lang="ko-KR" altLang="en-US" b="1">
              <a:solidFill>
                <a:srgbClr val="1A1A1A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01304E-4D05-4A79-AB1E-C7908E41D5CE}"/>
              </a:ext>
            </a:extLst>
          </p:cNvPr>
          <p:cNvSpPr txBox="1"/>
          <p:nvPr/>
        </p:nvSpPr>
        <p:spPr>
          <a:xfrm>
            <a:off x="3302000" y="4521200"/>
            <a:ext cx="812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200">
                <a:solidFill>
                  <a:srgbClr val="6B6B6B"/>
                </a:solidFill>
                <a:latin typeface="Segoe UI" panose="020B0502040204020203" pitchFamily="34" charset="0"/>
              </a:rPr>
              <a:t>commissioned Aug 2025 · equipment installed</a:t>
            </a:r>
            <a:endParaRPr lang="ko-KR" altLang="en-US" sz="1200">
              <a:solidFill>
                <a:srgbClr val="6B6B6B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4BFEF36-9C52-4A94-882B-8F9052CD9DBA}"/>
              </a:ext>
            </a:extLst>
          </p:cNvPr>
          <p:cNvSpPr/>
          <p:nvPr/>
        </p:nvSpPr>
        <p:spPr>
          <a:xfrm>
            <a:off x="762000" y="4927600"/>
            <a:ext cx="10668000" cy="12700"/>
          </a:xfrm>
          <a:prstGeom prst="rect">
            <a:avLst/>
          </a:prstGeom>
          <a:solidFill>
            <a:srgbClr val="EDED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503FD16-0E1A-4943-BD6C-2E3860C9FD82}"/>
              </a:ext>
            </a:extLst>
          </p:cNvPr>
          <p:cNvSpPr/>
          <p:nvPr/>
        </p:nvSpPr>
        <p:spPr>
          <a:xfrm>
            <a:off x="762000" y="5308600"/>
            <a:ext cx="10668000" cy="762000"/>
          </a:xfrm>
          <a:prstGeom prst="rect">
            <a:avLst/>
          </a:prstGeom>
          <a:solidFill>
            <a:srgbClr val="EDED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275EAD-0DAD-40D9-A6F5-A98881E6416A}"/>
              </a:ext>
            </a:extLst>
          </p:cNvPr>
          <p:cNvSpPr txBox="1"/>
          <p:nvPr/>
        </p:nvSpPr>
        <p:spPr>
          <a:xfrm>
            <a:off x="1016000" y="5486400"/>
            <a:ext cx="10160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700" b="1">
                <a:solidFill>
                  <a:srgbClr val="1A1A1A"/>
                </a:solidFill>
                <a:latin typeface="Segoe UI" panose="020B0502040204020203" pitchFamily="34" charset="0"/>
              </a:rPr>
              <a:t>No single sentence spans all three. Split, both halves are true. Joined, both are doubted.</a:t>
            </a:r>
            <a:endParaRPr lang="ko-KR" altLang="en-US" sz="1700" b="1">
              <a:solidFill>
                <a:srgbClr val="1A1A1A"/>
              </a:solidFill>
              <a:latin typeface="Segoe UI" panose="020B050204020402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13FF97-9384-41B4-A76D-C57B12DE6570}"/>
              </a:ext>
            </a:extLst>
          </p:cNvPr>
          <p:cNvSpPr txBox="1"/>
          <p:nvPr/>
        </p:nvSpPr>
        <p:spPr>
          <a:xfrm>
            <a:off x="762000" y="65024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6B6B6B"/>
                </a:solidFill>
                <a:latin typeface="Segoe UI" panose="020B0502040204020203" pitchFamily="34" charset="0"/>
              </a:rPr>
              <a:t>GANA GROUP  ·  Confidential — Internal</a:t>
            </a:r>
            <a:endParaRPr lang="ko-KR" altLang="en-US" sz="900">
              <a:solidFill>
                <a:srgbClr val="6B6B6B"/>
              </a:solidFill>
              <a:latin typeface="Segoe UI" panose="020B050204020402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A3DA99-93DA-47A7-972B-16C024146956}"/>
              </a:ext>
            </a:extLst>
          </p:cNvPr>
          <p:cNvSpPr txBox="1"/>
          <p:nvPr/>
        </p:nvSpPr>
        <p:spPr>
          <a:xfrm>
            <a:off x="10922000" y="6502400"/>
            <a:ext cx="508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900">
                <a:solidFill>
                  <a:srgbClr val="6B6B6B"/>
                </a:solidFill>
                <a:latin typeface="Segoe UI" panose="020B0502040204020203" pitchFamily="34" charset="0"/>
              </a:rPr>
              <a:t>7</a:t>
            </a:r>
            <a:endParaRPr lang="ko-KR" altLang="en-US" sz="900">
              <a:solidFill>
                <a:srgbClr val="6B6B6B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09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63975AC-FAB6-4F57-9C2F-E73EC200E2D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CB08C6-F2A8-41CC-9468-7896347A075B}"/>
              </a:ext>
            </a:extLst>
          </p:cNvPr>
          <p:cNvSpPr txBox="1"/>
          <p:nvPr/>
        </p:nvSpPr>
        <p:spPr>
          <a:xfrm>
            <a:off x="762000" y="685800"/>
            <a:ext cx="1066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1F4E79"/>
                </a:solidFill>
                <a:latin typeface="Segoe UI" panose="020B0502040204020203" pitchFamily="34" charset="0"/>
              </a:rPr>
              <a:t>07  ·  WHAT STAYS</a:t>
            </a:r>
            <a:endParaRPr lang="ko-KR" altLang="en-US" sz="1300" b="1">
              <a:solidFill>
                <a:srgbClr val="1F4E79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C660EC-E2F0-47A1-95F8-F79F4FBEE2C9}"/>
              </a:ext>
            </a:extLst>
          </p:cNvPr>
          <p:cNvSpPr txBox="1"/>
          <p:nvPr/>
        </p:nvSpPr>
        <p:spPr>
          <a:xfrm>
            <a:off x="762000" y="1041400"/>
            <a:ext cx="10668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3000" b="1">
                <a:solidFill>
                  <a:srgbClr val="1A1A1A"/>
                </a:solidFill>
                <a:latin typeface="Segoe UI" panose="020B0502040204020203" pitchFamily="34" charset="0"/>
              </a:rPr>
              <a:t>Nothing is removed</a:t>
            </a:r>
            <a:endParaRPr lang="ko-KR" altLang="en-US" sz="3000" b="1">
              <a:solidFill>
                <a:srgbClr val="1A1A1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D3937C9-3A45-4C2C-8231-5A770B86B577}"/>
              </a:ext>
            </a:extLst>
          </p:cNvPr>
          <p:cNvSpPr/>
          <p:nvPr/>
        </p:nvSpPr>
        <p:spPr>
          <a:xfrm>
            <a:off x="787400" y="1752600"/>
            <a:ext cx="711200" cy="381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50332F-AC87-4EF1-A4C9-12F66092019B}"/>
              </a:ext>
            </a:extLst>
          </p:cNvPr>
          <p:cNvSpPr txBox="1"/>
          <p:nvPr/>
        </p:nvSpPr>
        <p:spPr>
          <a:xfrm>
            <a:off x="762000" y="22860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b="1">
                <a:solidFill>
                  <a:srgbClr val="1F4E79"/>
                </a:solidFill>
                <a:latin typeface="Segoe UI" panose="020B0502040204020203" pitchFamily="34" charset="0"/>
              </a:rPr>
              <a:t>Anti-aging</a:t>
            </a:r>
            <a:endParaRPr lang="ko-KR" altLang="en-US" b="1">
              <a:solidFill>
                <a:srgbClr val="1F4E79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F06AD4-244E-4F57-9147-AF09368EA848}"/>
              </a:ext>
            </a:extLst>
          </p:cNvPr>
          <p:cNvSpPr txBox="1"/>
          <p:nvPr/>
        </p:nvSpPr>
        <p:spPr>
          <a:xfrm>
            <a:off x="4318000" y="2286000"/>
            <a:ext cx="7112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1A1A1A"/>
                </a:solidFill>
                <a:latin typeface="Segoe UI" panose="020B0502040204020203" pitchFamily="34" charset="0"/>
              </a:rPr>
              <a:t>Not retired — reassigned. The purpose internally; kept in external use for the cosmetics line.</a:t>
            </a:r>
            <a:endParaRPr lang="ko-KR" altLang="en-US" sz="1600">
              <a:solidFill>
                <a:srgbClr val="1A1A1A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DDABF07-26E7-4907-B26F-EDC95451DF0F}"/>
              </a:ext>
            </a:extLst>
          </p:cNvPr>
          <p:cNvSpPr/>
          <p:nvPr/>
        </p:nvSpPr>
        <p:spPr>
          <a:xfrm>
            <a:off x="762000" y="3124200"/>
            <a:ext cx="10668000" cy="12700"/>
          </a:xfrm>
          <a:prstGeom prst="rect">
            <a:avLst/>
          </a:prstGeom>
          <a:solidFill>
            <a:srgbClr val="EDED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CA3498-206F-486D-9C6C-44607623559F}"/>
              </a:ext>
            </a:extLst>
          </p:cNvPr>
          <p:cNvSpPr txBox="1"/>
          <p:nvPr/>
        </p:nvSpPr>
        <p:spPr>
          <a:xfrm>
            <a:off x="762000" y="34290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b="1">
                <a:solidFill>
                  <a:srgbClr val="1F4E79"/>
                </a:solidFill>
                <a:latin typeface="Segoe UI" panose="020B0502040204020203" pitchFamily="34" charset="0"/>
              </a:rPr>
              <a:t>Affiliates</a:t>
            </a:r>
            <a:endParaRPr lang="ko-KR" altLang="en-US" b="1">
              <a:solidFill>
                <a:srgbClr val="1F4E79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9B4C65-9766-48CD-969E-2D352B419017}"/>
              </a:ext>
            </a:extLst>
          </p:cNvPr>
          <p:cNvSpPr txBox="1"/>
          <p:nvPr/>
        </p:nvSpPr>
        <p:spPr>
          <a:xfrm>
            <a:off x="4318000" y="3429000"/>
            <a:ext cx="7112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1A1A1A"/>
                </a:solidFill>
                <a:latin typeface="Segoe UI" panose="020B0502040204020203" pitchFamily="34" charset="0"/>
              </a:rPr>
              <a:t>None removed. Only the order changes — the companies that make things go in front.</a:t>
            </a:r>
            <a:endParaRPr lang="ko-KR" altLang="en-US" sz="1600">
              <a:solidFill>
                <a:srgbClr val="1A1A1A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AA43C44-8B39-4C7D-B094-A9997C78FAE9}"/>
              </a:ext>
            </a:extLst>
          </p:cNvPr>
          <p:cNvSpPr/>
          <p:nvPr/>
        </p:nvSpPr>
        <p:spPr>
          <a:xfrm>
            <a:off x="762000" y="4267200"/>
            <a:ext cx="10668000" cy="12700"/>
          </a:xfrm>
          <a:prstGeom prst="rect">
            <a:avLst/>
          </a:prstGeom>
          <a:solidFill>
            <a:srgbClr val="EDED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07ABBD-2FD5-44F4-BF63-AF9E7D42ADE5}"/>
              </a:ext>
            </a:extLst>
          </p:cNvPr>
          <p:cNvSpPr txBox="1"/>
          <p:nvPr/>
        </p:nvSpPr>
        <p:spPr>
          <a:xfrm>
            <a:off x="762000" y="45720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b="1">
                <a:solidFill>
                  <a:srgbClr val="1F4E79"/>
                </a:solidFill>
                <a:latin typeface="Segoe UI" panose="020B0502040204020203" pitchFamily="34" charset="0"/>
              </a:rPr>
              <a:t>A count</a:t>
            </a:r>
            <a:endParaRPr lang="ko-KR" altLang="en-US" b="1">
              <a:solidFill>
                <a:srgbClr val="1F4E79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F3F7CA-746F-4408-85B7-42CE408A7EA8}"/>
              </a:ext>
            </a:extLst>
          </p:cNvPr>
          <p:cNvSpPr txBox="1"/>
          <p:nvPr/>
        </p:nvSpPr>
        <p:spPr>
          <a:xfrm>
            <a:off x="4318000" y="4572000"/>
            <a:ext cx="7112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1A1A1A"/>
                </a:solidFill>
                <a:latin typeface="Segoe UI" panose="020B0502040204020203" pitchFamily="34" charset="0"/>
              </a:rPr>
              <a:t>Not stated yet. Our own materials say three, four and six in different places. Settle it first.</a:t>
            </a:r>
            <a:endParaRPr lang="ko-KR" altLang="en-US" sz="1600">
              <a:solidFill>
                <a:srgbClr val="1A1A1A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64808F-BD70-40AC-B242-B261F8050BCF}"/>
              </a:ext>
            </a:extLst>
          </p:cNvPr>
          <p:cNvSpPr txBox="1"/>
          <p:nvPr/>
        </p:nvSpPr>
        <p:spPr>
          <a:xfrm>
            <a:off x="762000" y="65024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6B6B6B"/>
                </a:solidFill>
                <a:latin typeface="Segoe UI" panose="020B0502040204020203" pitchFamily="34" charset="0"/>
              </a:rPr>
              <a:t>GANA GROUP  ·  Confidential — Internal</a:t>
            </a:r>
            <a:endParaRPr lang="ko-KR" altLang="en-US" sz="900">
              <a:solidFill>
                <a:srgbClr val="6B6B6B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B80EDB-E5EC-4D6F-A9F9-B570AEEC6BBF}"/>
              </a:ext>
            </a:extLst>
          </p:cNvPr>
          <p:cNvSpPr txBox="1"/>
          <p:nvPr/>
        </p:nvSpPr>
        <p:spPr>
          <a:xfrm>
            <a:off x="10922000" y="6502400"/>
            <a:ext cx="508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900">
                <a:solidFill>
                  <a:srgbClr val="6B6B6B"/>
                </a:solidFill>
                <a:latin typeface="Segoe UI" panose="020B0502040204020203" pitchFamily="34" charset="0"/>
              </a:rPr>
              <a:t>8</a:t>
            </a:r>
            <a:endParaRPr lang="ko-KR" altLang="en-US" sz="900">
              <a:solidFill>
                <a:srgbClr val="6B6B6B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4949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1A7DBC9-789E-414B-9EDD-3E47A4557E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1D3397-276A-41C7-A666-914D3BB8B622}"/>
              </a:ext>
            </a:extLst>
          </p:cNvPr>
          <p:cNvSpPr txBox="1"/>
          <p:nvPr/>
        </p:nvSpPr>
        <p:spPr>
          <a:xfrm>
            <a:off x="762000" y="685800"/>
            <a:ext cx="1066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1F4E79"/>
                </a:solidFill>
                <a:latin typeface="Segoe UI" panose="020B0502040204020203" pitchFamily="34" charset="0"/>
              </a:rPr>
              <a:t>08  ·  THE ONE CONDITION</a:t>
            </a:r>
            <a:endParaRPr lang="ko-KR" altLang="en-US" sz="1300" b="1">
              <a:solidFill>
                <a:srgbClr val="1F4E79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BEB781-9327-4143-9CC7-951C97C919FF}"/>
              </a:ext>
            </a:extLst>
          </p:cNvPr>
          <p:cNvSpPr txBox="1"/>
          <p:nvPr/>
        </p:nvSpPr>
        <p:spPr>
          <a:xfrm>
            <a:off x="762000" y="1041400"/>
            <a:ext cx="10668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3000" b="1">
                <a:solidFill>
                  <a:srgbClr val="1A1A1A"/>
                </a:solidFill>
                <a:latin typeface="Segoe UI" panose="020B0502040204020203" pitchFamily="34" charset="0"/>
              </a:rPr>
              <a:t>One number, three dates</a:t>
            </a:r>
            <a:endParaRPr lang="ko-KR" altLang="en-US" sz="3000" b="1">
              <a:solidFill>
                <a:srgbClr val="1A1A1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E371DCA-E9C6-42F5-B80C-07EE2CA0F9AE}"/>
              </a:ext>
            </a:extLst>
          </p:cNvPr>
          <p:cNvSpPr/>
          <p:nvPr/>
        </p:nvSpPr>
        <p:spPr>
          <a:xfrm>
            <a:off x="787400" y="1752600"/>
            <a:ext cx="711200" cy="381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1469A6-5CBE-4DF1-95A0-30F42FDCBADE}"/>
              </a:ext>
            </a:extLst>
          </p:cNvPr>
          <p:cNvSpPr txBox="1"/>
          <p:nvPr/>
        </p:nvSpPr>
        <p:spPr>
          <a:xfrm>
            <a:off x="762000" y="2286000"/>
            <a:ext cx="10668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3400" b="1">
                <a:solidFill>
                  <a:srgbClr val="1A1A1A"/>
                </a:solidFill>
                <a:latin typeface="Segoe UI" panose="020B0502040204020203" pitchFamily="34" charset="0"/>
              </a:rPr>
              <a:t>5,000 L         6,000 L         200,000 L</a:t>
            </a:r>
            <a:endParaRPr lang="ko-KR" altLang="en-US" sz="3400" b="1">
              <a:solidFill>
                <a:srgbClr val="1A1A1A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3FAF52-78C4-49D5-91E2-027FB4227121}"/>
              </a:ext>
            </a:extLst>
          </p:cNvPr>
          <p:cNvSpPr txBox="1"/>
          <p:nvPr/>
        </p:nvSpPr>
        <p:spPr>
          <a:xfrm>
            <a:off x="762000" y="32766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400" b="1">
                <a:solidFill>
                  <a:srgbClr val="1F4E79"/>
                </a:solidFill>
                <a:latin typeface="Segoe UI" panose="020B0502040204020203" pitchFamily="34" charset="0"/>
              </a:rPr>
              <a:t>These are not three claims. They are three dates.</a:t>
            </a:r>
            <a:endParaRPr lang="ko-KR" altLang="en-US" sz="2400" b="1">
              <a:solidFill>
                <a:srgbClr val="1F4E79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B946C5-CAA8-46F6-A7C5-793F802D45D4}"/>
              </a:ext>
            </a:extLst>
          </p:cNvPr>
          <p:cNvSpPr txBox="1"/>
          <p:nvPr/>
        </p:nvSpPr>
        <p:spPr>
          <a:xfrm>
            <a:off x="762000" y="3962400"/>
            <a:ext cx="10668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6B6B6B"/>
                </a:solidFill>
                <a:latin typeface="Segoe UI" panose="020B0502040204020203" pitchFamily="34" charset="0"/>
              </a:rPr>
              <a:t>Each was accurate when it was written. None was revised afterwards.</a:t>
            </a:r>
            <a:endParaRPr lang="ko-KR" altLang="en-US" sz="1600">
              <a:solidFill>
                <a:srgbClr val="6B6B6B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35E3EF5-213D-42AF-B699-2CE8B9F39310}"/>
              </a:ext>
            </a:extLst>
          </p:cNvPr>
          <p:cNvSpPr/>
          <p:nvPr/>
        </p:nvSpPr>
        <p:spPr>
          <a:xfrm>
            <a:off x="762000" y="4724400"/>
            <a:ext cx="10668000" cy="939800"/>
          </a:xfrm>
          <a:prstGeom prst="rect">
            <a:avLst/>
          </a:prstGeom>
          <a:solidFill>
            <a:srgbClr val="EDED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126D1F-B25C-45FA-AB0B-61FE12D6BA21}"/>
              </a:ext>
            </a:extLst>
          </p:cNvPr>
          <p:cNvSpPr txBox="1"/>
          <p:nvPr/>
        </p:nvSpPr>
        <p:spPr>
          <a:xfrm>
            <a:off x="1016000" y="4927600"/>
            <a:ext cx="10160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700" b="1">
                <a:solidFill>
                  <a:srgbClr val="1A1A1A"/>
                </a:solidFill>
                <a:latin typeface="Segoe UI" panose="020B0502040204020203" pitchFamily="34" charset="0"/>
              </a:rPr>
              <a:t>The ask is narrow: freeze the figure — publish no capacity number in new material until one is confirmed. Everything else proceeds in parallel.</a:t>
            </a:r>
            <a:endParaRPr lang="ko-KR" altLang="en-US" sz="1700" b="1">
              <a:solidFill>
                <a:srgbClr val="1A1A1A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F64DDD-02A9-4662-A29A-3FB6CC9EC076}"/>
              </a:ext>
            </a:extLst>
          </p:cNvPr>
          <p:cNvSpPr txBox="1"/>
          <p:nvPr/>
        </p:nvSpPr>
        <p:spPr>
          <a:xfrm>
            <a:off x="762000" y="65024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6B6B6B"/>
                </a:solidFill>
                <a:latin typeface="Segoe UI" panose="020B0502040204020203" pitchFamily="34" charset="0"/>
              </a:rPr>
              <a:t>GANA GROUP  ·  Confidential — Internal</a:t>
            </a:r>
            <a:endParaRPr lang="ko-KR" altLang="en-US" sz="900">
              <a:solidFill>
                <a:srgbClr val="6B6B6B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749A8E-DDC4-4218-AC73-A4D4FA72BDCE}"/>
              </a:ext>
            </a:extLst>
          </p:cNvPr>
          <p:cNvSpPr txBox="1"/>
          <p:nvPr/>
        </p:nvSpPr>
        <p:spPr>
          <a:xfrm>
            <a:off x="10922000" y="6502400"/>
            <a:ext cx="508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900">
                <a:solidFill>
                  <a:srgbClr val="6B6B6B"/>
                </a:solidFill>
                <a:latin typeface="Segoe UI" panose="020B0502040204020203" pitchFamily="34" charset="0"/>
              </a:rPr>
              <a:t>9</a:t>
            </a:r>
            <a:endParaRPr lang="ko-KR" altLang="en-US" sz="900">
              <a:solidFill>
                <a:srgbClr val="6B6B6B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6157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86D7314-8902-4C55-9B4E-51CF888274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7551B3-6260-48D5-A87E-FCBA7BE537BE}"/>
              </a:ext>
            </a:extLst>
          </p:cNvPr>
          <p:cNvSpPr txBox="1"/>
          <p:nvPr/>
        </p:nvSpPr>
        <p:spPr>
          <a:xfrm>
            <a:off x="762000" y="685800"/>
            <a:ext cx="1066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1F4E79"/>
                </a:solidFill>
                <a:latin typeface="Segoe UI" panose="020B0502040204020203" pitchFamily="34" charset="0"/>
              </a:rPr>
              <a:t>09  ·  THE ASK</a:t>
            </a:r>
            <a:endParaRPr lang="ko-KR" altLang="en-US" sz="1300" b="1">
              <a:solidFill>
                <a:srgbClr val="1F4E79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5D367A-1C60-4B01-8405-33E60D5CC8C5}"/>
              </a:ext>
            </a:extLst>
          </p:cNvPr>
          <p:cNvSpPr txBox="1"/>
          <p:nvPr/>
        </p:nvSpPr>
        <p:spPr>
          <a:xfrm>
            <a:off x="762000" y="1041400"/>
            <a:ext cx="10668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3000" b="1">
                <a:solidFill>
                  <a:srgbClr val="1A1A1A"/>
                </a:solidFill>
                <a:latin typeface="Segoe UI" panose="020B0502040204020203" pitchFamily="34" charset="0"/>
              </a:rPr>
              <a:t>Four items</a:t>
            </a:r>
            <a:endParaRPr lang="ko-KR" altLang="en-US" sz="3000" b="1">
              <a:solidFill>
                <a:srgbClr val="1A1A1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302749C-CD93-4F24-AF48-BC5DFC3F23B8}"/>
              </a:ext>
            </a:extLst>
          </p:cNvPr>
          <p:cNvSpPr/>
          <p:nvPr/>
        </p:nvSpPr>
        <p:spPr>
          <a:xfrm>
            <a:off x="787400" y="1752600"/>
            <a:ext cx="711200" cy="381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A825924-60FA-43F4-B84A-67173C5BA8BB}"/>
              </a:ext>
            </a:extLst>
          </p:cNvPr>
          <p:cNvSpPr/>
          <p:nvPr/>
        </p:nvSpPr>
        <p:spPr>
          <a:xfrm>
            <a:off x="762000" y="2133600"/>
            <a:ext cx="10668000" cy="1143000"/>
          </a:xfrm>
          <a:prstGeom prst="rect">
            <a:avLst/>
          </a:prstGeom>
          <a:solidFill>
            <a:srgbClr val="EDED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654CD13-6B07-448C-9868-B303CAEE364E}"/>
              </a:ext>
            </a:extLst>
          </p:cNvPr>
          <p:cNvSpPr/>
          <p:nvPr/>
        </p:nvSpPr>
        <p:spPr>
          <a:xfrm>
            <a:off x="762000" y="2133600"/>
            <a:ext cx="63500" cy="1143000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72A915-DF15-4DDA-9AB8-7CE62618C7BB}"/>
              </a:ext>
            </a:extLst>
          </p:cNvPr>
          <p:cNvSpPr txBox="1"/>
          <p:nvPr/>
        </p:nvSpPr>
        <p:spPr>
          <a:xfrm>
            <a:off x="1016000" y="2260600"/>
            <a:ext cx="76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200" b="1">
                <a:solidFill>
                  <a:srgbClr val="C00000"/>
                </a:solidFill>
                <a:latin typeface="Segoe UI" panose="020B0502040204020203" pitchFamily="34" charset="0"/>
              </a:rPr>
              <a:t>1</a:t>
            </a:r>
            <a:endParaRPr lang="ko-KR" altLang="en-US" sz="2200" b="1">
              <a:solidFill>
                <a:srgbClr val="C00000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BFED24-BD70-4E43-8075-571A88964438}"/>
              </a:ext>
            </a:extLst>
          </p:cNvPr>
          <p:cNvSpPr txBox="1"/>
          <p:nvPr/>
        </p:nvSpPr>
        <p:spPr>
          <a:xfrm>
            <a:off x="1651000" y="2260600"/>
            <a:ext cx="977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700" b="1">
                <a:solidFill>
                  <a:srgbClr val="1A1A1A"/>
                </a:solidFill>
                <a:latin typeface="Segoe UI" panose="020B0502040204020203" pitchFamily="34" charset="0"/>
              </a:rPr>
              <a:t>Immediate corrections — no approval needed.</a:t>
            </a:r>
            <a:endParaRPr lang="ko-KR" altLang="en-US" sz="1700" b="1">
              <a:solidFill>
                <a:srgbClr val="1A1A1A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003800-66A4-4007-84AA-71448B5A0CA2}"/>
              </a:ext>
            </a:extLst>
          </p:cNvPr>
          <p:cNvSpPr txBox="1"/>
          <p:nvPr/>
        </p:nvSpPr>
        <p:spPr>
          <a:xfrm>
            <a:off x="1651000" y="2641600"/>
            <a:ext cx="9779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6B6B6B"/>
                </a:solidFill>
                <a:latin typeface="Segoe UI" panose="020B0502040204020203" pitchFamily="34" charset="0"/>
              </a:rPr>
              <a:t>EU authorised-representative mandate expires 25 July — in two days. Renew it; take down expired badges; delete “Russia FDA”; publish our current GMP.  Zero cost.</a:t>
            </a:r>
            <a:endParaRPr lang="ko-KR" altLang="en-US" sz="1300">
              <a:solidFill>
                <a:srgbClr val="6B6B6B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F88E6B-10DC-4F6B-A69F-41E4B82479B4}"/>
              </a:ext>
            </a:extLst>
          </p:cNvPr>
          <p:cNvSpPr txBox="1"/>
          <p:nvPr/>
        </p:nvSpPr>
        <p:spPr>
          <a:xfrm>
            <a:off x="762000" y="3479800"/>
            <a:ext cx="76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000" b="1">
                <a:solidFill>
                  <a:srgbClr val="1F4E79"/>
                </a:solidFill>
                <a:latin typeface="Segoe UI" panose="020B0502040204020203" pitchFamily="34" charset="0"/>
              </a:rPr>
              <a:t>2</a:t>
            </a:r>
            <a:endParaRPr lang="ko-KR" altLang="en-US" sz="2000" b="1">
              <a:solidFill>
                <a:srgbClr val="1F4E79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0D4082-3846-4D19-8098-D5E533CABB2B}"/>
              </a:ext>
            </a:extLst>
          </p:cNvPr>
          <p:cNvSpPr txBox="1"/>
          <p:nvPr/>
        </p:nvSpPr>
        <p:spPr>
          <a:xfrm>
            <a:off x="1651000" y="3479800"/>
            <a:ext cx="977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700" b="1">
                <a:solidFill>
                  <a:srgbClr val="1A1A1A"/>
                </a:solidFill>
                <a:latin typeface="Segoe UI" panose="020B0502040204020203" pitchFamily="34" charset="0"/>
              </a:rPr>
              <a:t>Align the external axis to manufacturing.</a:t>
            </a:r>
            <a:endParaRPr lang="ko-KR" altLang="en-US" sz="1700" b="1">
              <a:solidFill>
                <a:srgbClr val="1A1A1A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A0E775-622F-4E68-A5BC-E22F321820C7}"/>
              </a:ext>
            </a:extLst>
          </p:cNvPr>
          <p:cNvSpPr txBox="1"/>
          <p:nvPr/>
        </p:nvSpPr>
        <p:spPr>
          <a:xfrm>
            <a:off x="762000" y="4038600"/>
            <a:ext cx="76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000" b="1">
                <a:solidFill>
                  <a:srgbClr val="1F4E79"/>
                </a:solidFill>
                <a:latin typeface="Segoe UI" panose="020B0502040204020203" pitchFamily="34" charset="0"/>
              </a:rPr>
              <a:t>3</a:t>
            </a:r>
            <a:endParaRPr lang="ko-KR" altLang="en-US" sz="2000" b="1">
              <a:solidFill>
                <a:srgbClr val="1F4E79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AEDFD8-5882-473A-85AF-4800A8CB14B8}"/>
              </a:ext>
            </a:extLst>
          </p:cNvPr>
          <p:cNvSpPr txBox="1"/>
          <p:nvPr/>
        </p:nvSpPr>
        <p:spPr>
          <a:xfrm>
            <a:off x="1651000" y="4038600"/>
            <a:ext cx="9779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700" b="1">
                <a:solidFill>
                  <a:srgbClr val="1A1A1A"/>
                </a:solidFill>
                <a:latin typeface="Segoe UI" panose="020B0502040204020203" pitchFamily="34" charset="0"/>
              </a:rPr>
              <a:t>Switch the affiliate framing to manufacturing depth — conditional on five ownership checks closing first.</a:t>
            </a:r>
            <a:endParaRPr lang="ko-KR" altLang="en-US" sz="1700" b="1">
              <a:solidFill>
                <a:srgbClr val="1A1A1A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A8D431-2C44-47D4-9D58-D22C5CBE0C06}"/>
              </a:ext>
            </a:extLst>
          </p:cNvPr>
          <p:cNvSpPr txBox="1"/>
          <p:nvPr/>
        </p:nvSpPr>
        <p:spPr>
          <a:xfrm>
            <a:off x="762000" y="4826000"/>
            <a:ext cx="76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000" b="1">
                <a:solidFill>
                  <a:srgbClr val="1F4E79"/>
                </a:solidFill>
                <a:latin typeface="Segoe UI" panose="020B0502040204020203" pitchFamily="34" charset="0"/>
              </a:rPr>
              <a:t>4</a:t>
            </a:r>
            <a:endParaRPr lang="ko-KR" altLang="en-US" sz="2000" b="1">
              <a:solidFill>
                <a:srgbClr val="1F4E79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62FCDA-3A99-47DA-8B42-6EFFEC510723}"/>
              </a:ext>
            </a:extLst>
          </p:cNvPr>
          <p:cNvSpPr txBox="1"/>
          <p:nvPr/>
        </p:nvSpPr>
        <p:spPr>
          <a:xfrm>
            <a:off x="1651000" y="4826000"/>
            <a:ext cx="977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700" b="1">
                <a:solidFill>
                  <a:srgbClr val="1A1A1A"/>
                </a:solidFill>
                <a:latin typeface="Segoe UI" panose="020B0502040204020203" pitchFamily="34" charset="0"/>
              </a:rPr>
              <a:t>Put final sign-off on regulatory wording with Regulatory Affairs.</a:t>
            </a:r>
            <a:endParaRPr lang="ko-KR" altLang="en-US" sz="1700" b="1">
              <a:solidFill>
                <a:srgbClr val="1A1A1A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7657A5-DA8F-481F-A337-0DCFEF0F97C1}"/>
              </a:ext>
            </a:extLst>
          </p:cNvPr>
          <p:cNvSpPr txBox="1"/>
          <p:nvPr/>
        </p:nvSpPr>
        <p:spPr>
          <a:xfrm>
            <a:off x="762000" y="65024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6B6B6B"/>
                </a:solidFill>
                <a:latin typeface="Segoe UI" panose="020B0502040204020203" pitchFamily="34" charset="0"/>
              </a:rPr>
              <a:t>GANA GROUP  ·  Confidential — Internal</a:t>
            </a:r>
            <a:endParaRPr lang="ko-KR" altLang="en-US" sz="900">
              <a:solidFill>
                <a:srgbClr val="6B6B6B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FAB5F1-89FC-43A4-B9A8-8CF225C16C5C}"/>
              </a:ext>
            </a:extLst>
          </p:cNvPr>
          <p:cNvSpPr txBox="1"/>
          <p:nvPr/>
        </p:nvSpPr>
        <p:spPr>
          <a:xfrm>
            <a:off x="10922000" y="6502400"/>
            <a:ext cx="508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900">
                <a:solidFill>
                  <a:srgbClr val="6B6B6B"/>
                </a:solidFill>
                <a:latin typeface="Segoe UI" panose="020B0502040204020203" pitchFamily="34" charset="0"/>
              </a:rPr>
              <a:t>10</a:t>
            </a:r>
            <a:endParaRPr lang="ko-KR" altLang="en-US" sz="900">
              <a:solidFill>
                <a:srgbClr val="6B6B6B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335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11249D3-F48B-4637-B970-BFF9F601673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40A5B7D-5022-4174-8AC7-57B553E42226}"/>
              </a:ext>
            </a:extLst>
          </p:cNvPr>
          <p:cNvSpPr/>
          <p:nvPr/>
        </p:nvSpPr>
        <p:spPr>
          <a:xfrm>
            <a:off x="762000" y="2413000"/>
            <a:ext cx="711200" cy="508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67C3ED-2B3A-40E5-872D-4829B19727EA}"/>
              </a:ext>
            </a:extLst>
          </p:cNvPr>
          <p:cNvSpPr txBox="1"/>
          <p:nvPr/>
        </p:nvSpPr>
        <p:spPr>
          <a:xfrm>
            <a:off x="762000" y="2870200"/>
            <a:ext cx="10668000" cy="15234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3300" b="1">
                <a:solidFill>
                  <a:srgbClr val="1A1A1A"/>
                </a:solidFill>
                <a:latin typeface="Segoe UI" panose="020B0502040204020203" pitchFamily="34" charset="0"/>
              </a:rPr>
              <a:t>Nothing is thrown away.</a:t>
            </a:r>
          </a:p>
          <a:p>
            <a:r>
              <a:rPr lang="en-US" altLang="ko-KR" sz="3300" b="1">
                <a:solidFill>
                  <a:srgbClr val="1A1A1A"/>
                </a:solidFill>
                <a:latin typeface="Segoe UI" panose="020B0502040204020203" pitchFamily="34" charset="0"/>
              </a:rPr>
              <a:t>We stop describing ourselves —</a:t>
            </a:r>
          </a:p>
          <a:p>
            <a:r>
              <a:rPr lang="en-US" altLang="ko-KR" sz="3300" b="1">
                <a:solidFill>
                  <a:srgbClr val="1A1A1A"/>
                </a:solidFill>
                <a:latin typeface="Segoe UI" panose="020B0502040204020203" pitchFamily="34" charset="0"/>
              </a:rPr>
              <a:t>and start handing over numbers.</a:t>
            </a:r>
            <a:endParaRPr lang="ko-KR" altLang="en-US" sz="3300" b="1">
              <a:solidFill>
                <a:srgbClr val="1A1A1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ACBE2-EA6C-4A71-92E1-516870CD63FC}"/>
              </a:ext>
            </a:extLst>
          </p:cNvPr>
          <p:cNvSpPr txBox="1"/>
          <p:nvPr/>
        </p:nvSpPr>
        <p:spPr>
          <a:xfrm>
            <a:off x="762000" y="6045200"/>
            <a:ext cx="1066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200" b="1">
                <a:solidFill>
                  <a:srgbClr val="1F4E79"/>
                </a:solidFill>
                <a:latin typeface="Segoe UI" panose="020B0502040204020203" pitchFamily="34" charset="0"/>
              </a:rPr>
              <a:t>GANA GROUP</a:t>
            </a:r>
            <a:endParaRPr lang="ko-KR" altLang="en-US" sz="1200" b="1">
              <a:solidFill>
                <a:srgbClr val="1F4E79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553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775</Words>
  <Application>Microsoft Office PowerPoint</Application>
  <PresentationFormat>사용자 지정</PresentationFormat>
  <Paragraphs>116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맑은 고딕</vt:lpstr>
      <vt:lpstr>Arial</vt:lpstr>
      <vt:lpstr>Segoe UI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소정 박</dc:creator>
  <cp:lastModifiedBy>소정 박</cp:lastModifiedBy>
  <cp:revision>1</cp:revision>
  <dcterms:created xsi:type="dcterms:W3CDTF">2026-07-22T22:12:45Z</dcterms:created>
  <dcterms:modified xsi:type="dcterms:W3CDTF">2026-07-22T22:12:45Z</dcterms:modified>
</cp:coreProperties>
</file>