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7D1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FB0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GANA GROUP  ·  6사 전수조사 기반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 진단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4B6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가진 것은 과소 표기하고, 없는 것은 과대 표기한다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247페이지 전수 크롤 · 5개 관할 62건 확인 등재 · 4차 적대적 검증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5760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E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리브랜딩의 진짜 과제 = 새 언어를 만드는 것이 아니라, 이 방향을 뒤집는 것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D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 </a:t>
            </a:r>
            <a:pPr indent="0" marL="0">
              <a:buNone/>
            </a:pPr>
            <a:r>
              <a:rPr lang="en-US" sz="1200" b="1" spc="200" kern="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ONE-LINE DIAGNOSIS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 결과 전체가 이 한 문장으로 수렴한다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11094415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F7A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가진 것</a:t>
            </a:r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 </a:t>
            </a:r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F7A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과소</a:t>
            </a:r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표기하고,
</a:t>
            </a:r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B23A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없는 것</a:t>
            </a:r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 </a:t>
            </a:r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B23A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과대</a:t>
            </a:r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표기한다.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5364328" cy="1920240"/>
          </a:xfrm>
          <a:prstGeom prst="rect">
            <a:avLst/>
          </a:prstGeom>
          <a:solidFill>
            <a:srgbClr val="F4F6F8"/>
          </a:solidFill>
          <a:ln w="19050">
            <a:solidFill>
              <a:srgbClr val="1F7A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297680"/>
            <a:ext cx="490712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7A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가진 것 (과소)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러시아 8건 · MHRA Class III · MFDS 27건 · EUDAMED 제조자 등재 · 특허 2건 · 인증서 15장
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7A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사이트 노출 거의 0건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78728" y="4114800"/>
            <a:ext cx="5364328" cy="1920240"/>
          </a:xfrm>
          <a:prstGeom prst="rect">
            <a:avLst/>
          </a:prstGeom>
          <a:solidFill>
            <a:srgbClr val="F4F6F8"/>
          </a:solidFill>
          <a:ln w="19050">
            <a:solidFill>
              <a:srgbClr val="B23A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7328" y="4297680"/>
            <a:ext cx="490712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23A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없는 것 (과대)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FDA 의료기기 등록 (실질 부재) · CE·ISO·GMP (전부 만료) · KoraVie Class 2a (실제 Class I) · "World largest"
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23A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배지로 크게 게시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GANA GROUP  ·  전략 진단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D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 </a:t>
            </a:r>
            <a:pPr indent="0" marL="0">
              <a:buNone/>
            </a:pPr>
            <a:r>
              <a:rPr lang="en-US" sz="1200" b="1" spc="200" kern="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WE MINED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인사이트 = 의사결정을 바꾸는 '간극'. 4개 렌즈로 채굴한다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2636444" cy="2743200"/>
          </a:xfrm>
          <a:prstGeom prst="rect">
            <a:avLst/>
          </a:prstGeom>
          <a:solidFill>
            <a:srgbClr val="F4F6F8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2636444" cy="109728"/>
          </a:xfrm>
          <a:prstGeom prst="rect">
            <a:avLst/>
          </a:prstGeom>
          <a:solidFill>
            <a:srgbClr val="1F7A5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48840"/>
            <a:ext cx="22706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7A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22706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실체 ↔ 표현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22706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가진 것 중 대외에 안 보여주는 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7964" y="1920240"/>
            <a:ext cx="2636444" cy="2743200"/>
          </a:xfrm>
          <a:prstGeom prst="rect">
            <a:avLst/>
          </a:prstGeom>
          <a:solidFill>
            <a:srgbClr val="F4F6F8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7964" y="1920240"/>
            <a:ext cx="2636444" cy="109728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2" name="Text 10"/>
          <p:cNvSpPr/>
          <p:nvPr/>
        </p:nvSpPr>
        <p:spPr>
          <a:xfrm>
            <a:off x="3550844" y="2148840"/>
            <a:ext cx="22706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23A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50844" y="2788920"/>
            <a:ext cx="22706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 ↔ 검증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50844" y="3383280"/>
            <a:ext cx="22706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쓰고 있으나 근거 없는 것 (실사 리스크)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87288" y="1920240"/>
            <a:ext cx="2636444" cy="2743200"/>
          </a:xfrm>
          <a:prstGeom prst="rect">
            <a:avLst/>
          </a:prstGeom>
          <a:solidFill>
            <a:srgbClr val="F4F6F8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87288" y="1920240"/>
            <a:ext cx="2636444" cy="109728"/>
          </a:xfrm>
          <a:prstGeom prst="rect">
            <a:avLst/>
          </a:prstGeom>
          <a:solidFill>
            <a:srgbClr val="C77D12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2148840"/>
            <a:ext cx="22706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7D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370168" y="2788920"/>
            <a:ext cx="22706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↔ 방치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70168" y="3383280"/>
            <a:ext cx="22706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 낸 등록인데 사장된 것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06611" y="1920240"/>
            <a:ext cx="2636444" cy="2743200"/>
          </a:xfrm>
          <a:prstGeom prst="rect">
            <a:avLst/>
          </a:prstGeom>
          <a:solidFill>
            <a:srgbClr val="F4F6F8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611" y="1920240"/>
            <a:ext cx="2636444" cy="10972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2" name="Text 20"/>
          <p:cNvSpPr/>
          <p:nvPr/>
        </p:nvSpPr>
        <p:spPr>
          <a:xfrm>
            <a:off x="9189491" y="2148840"/>
            <a:ext cx="22706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189491" y="2788920"/>
            <a:ext cx="22706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↔ 위험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89491" y="3383280"/>
            <a:ext cx="22706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안 하면 무너지는 것 (만료·마감)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11094415" cy="10058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937760"/>
            <a:ext cx="1054577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77D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구조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[실체]와 [표현]의 불일치 → 신뢰도 태그로 등급화  (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7FD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=대외 인용 가능 / 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89A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자사주장·미확인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=리스크로 분류)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GANA GROUP  ·  전략 진단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D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pPr indent="0" marL="0">
              <a:buNone/>
            </a:pPr>
            <a:r>
              <a:rPr lang="en-US" sz="1200" b="1" spc="200" kern="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DIAGNOSTIC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— 무엇을 살리고, 무엇을 막고, 무엇을 서두르나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2567864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7A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2567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7A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62건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2567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확인된 등재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(5개 관할)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703320"/>
            <a:ext cx="2293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MFDS30·특허13·러시아8·MHRA5·ANVISA2·EUDAMED1 등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90824" y="1965960"/>
            <a:ext cx="2567864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23A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90824" y="2194560"/>
            <a:ext cx="2567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23A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13건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390824" y="3063240"/>
            <a:ext cx="2567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과대·미확인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7984" y="3703320"/>
            <a:ext cx="2293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FDA·ISO 22716·IAS·만료 인증서 4건 등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33008" y="1965960"/>
            <a:ext cx="2567864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77D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3008" y="2194560"/>
            <a:ext cx="2567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77D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12축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233008" y="3063240"/>
            <a:ext cx="2567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등재됐으나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미활용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70168" y="3703320"/>
            <a:ext cx="2293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러시아8·MHRA·EUDAMED·MFDS27품목·특허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75191" y="1965960"/>
            <a:ext cx="2567864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75191" y="2194560"/>
            <a:ext cx="25678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3건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075191" y="3063240"/>
            <a:ext cx="2567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만료 임박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(기한 걸림)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12351" y="3703320"/>
            <a:ext cx="2293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 AR D-3·ANVISA D-28·MFDS GMP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4663440"/>
            <a:ext cx="11094415" cy="1234440"/>
          </a:xfrm>
          <a:prstGeom prst="rect">
            <a:avLst/>
          </a:prstGeom>
          <a:solidFill>
            <a:srgbClr val="F4F6F8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663440"/>
            <a:ext cx="1054577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조사의 결론 —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문제는 "인증이 없다"가 아니라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F7A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"가진 것을 못 쓰고 있다"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이다.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기대했던 곳(FDA·CE·ISO)은 부재/만료로 확정. 기대하지 않았던 곳(러시아·MHRA·EUDAMED·MFDS·ANVISA·특허)에서 62건 유효 등재가 살아났다.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GANA GROUP  ·  전략 진단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7A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렌즈 01  </a:t>
            </a:r>
            <a:pPr indent="0" marL="0">
              <a:buNone/>
            </a:pPr>
            <a:r>
              <a:rPr lang="en-US" sz="1200" b="1" spc="200" kern="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실체 ↔ 표현  —  가진 것을 안 쓴다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규제기관 기록이 대신 증명해주는데, 사이트는 한 줄로 뭉갠다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0"/>
          </a:xfrm>
          <a:prstGeom prst="line">
            <a:avLst/>
          </a:prstGeom>
          <a:noFill/>
          <a:ln w="25400">
            <a:solidFill>
              <a:srgbClr val="1F7A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38528"/>
            <a:ext cx="1965960" cy="841248"/>
          </a:xfrm>
          <a:prstGeom prst="rect">
            <a:avLst/>
          </a:prstGeom>
          <a:solidFill>
            <a:srgbClr val="F4F6F8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38528"/>
            <a:ext cx="1783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GANA R&amp;D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러시아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97480" y="1901952"/>
            <a:ext cx="58366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러시아 유효 등재 8건(무기한 포함)을 "Russia FDA approved" 한 줄로 덮었다  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확인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РЗН 2021/13973(PLLA, 무기한) 등 8건, 제조사 전부 GANA R&amp;D 일치 · 사이트 등록번호 노출 0건 · "Russia FDA"는 없는 기관명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16975" y="1938528"/>
            <a:ext cx="2926080" cy="841248"/>
          </a:xfrm>
          <a:prstGeom prst="rect">
            <a:avLst/>
          </a:prstGeom>
          <a:solidFill>
            <a:srgbClr val="1F7A54"/>
          </a:solidFill>
          <a:ln/>
        </p:spPr>
      </p:sp>
      <p:sp>
        <p:nvSpPr>
          <p:cNvPr id="9" name="Text 7"/>
          <p:cNvSpPr/>
          <p:nvPr/>
        </p:nvSpPr>
        <p:spPr>
          <a:xfrm>
            <a:off x="8826703" y="1938528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8개 번호+조회링크로 교체(비용 0). Trust Center 최우선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1094415" cy="0"/>
          </a:xfrm>
          <a:prstGeom prst="line">
            <a:avLst/>
          </a:prstGeom>
          <a:noFill/>
          <a:ln w="9525">
            <a:solidFill>
              <a:srgbClr val="EFEF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035808"/>
            <a:ext cx="1965960" cy="841248"/>
          </a:xfrm>
          <a:prstGeom prst="rect">
            <a:avLst/>
          </a:prstGeom>
          <a:solidFill>
            <a:srgbClr val="F4F6F8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35808"/>
            <a:ext cx="1783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GANA R&amp;D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영국 MHRA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2999232"/>
            <a:ext cx="58366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Class III 등재 + UKRP가 대형사 Sinclair라는 최상급 자산이 사이트에 없다  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확인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DEVICE_ID 73044, Lanluma V/X, Class III, UKRP=Sinclair Pharmaceuticals, 최종갱신 2026-04-11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716975" y="3035808"/>
            <a:ext cx="2926080" cy="841248"/>
          </a:xfrm>
          <a:prstGeom prst="rect">
            <a:avLst/>
          </a:prstGeom>
          <a:solidFill>
            <a:srgbClr val="1F7A54"/>
          </a:solidFill>
          <a:ln/>
        </p:spPr>
      </p:sp>
      <p:sp>
        <p:nvSpPr>
          <p:cNvPr id="15" name="Text 13"/>
          <p:cNvSpPr/>
          <p:nvPr/>
        </p:nvSpPr>
        <p:spPr>
          <a:xfrm>
            <a:off x="8826703" y="3035808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조사에서 가장 아까운 미활용 자산". 번호+관계 노출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11094415" cy="0"/>
          </a:xfrm>
          <a:prstGeom prst="line">
            <a:avLst/>
          </a:prstGeom>
          <a:noFill/>
          <a:ln w="9525">
            <a:solidFill>
              <a:srgbClr val="EFEF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133088"/>
            <a:ext cx="1965960" cy="841248"/>
          </a:xfrm>
          <a:prstGeom prst="rect">
            <a:avLst/>
          </a:prstGeom>
          <a:solidFill>
            <a:srgbClr val="F4F6F8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33088"/>
            <a:ext cx="1783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GANA R&amp;D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MFDS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97480" y="4096512"/>
            <a:ext cx="58366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품목허가 27건·현행 GMP를 만료된 스캔 이미지로만 걸어뒀다  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확인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품목허가 27건(26건 수출용) · 제조업 제4490호 · 현행 GMP KCL-ABBA-19926(~2027-03) · 사이트엔 2020 만료본 스캔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16975" y="4133088"/>
            <a:ext cx="2926080" cy="841248"/>
          </a:xfrm>
          <a:prstGeom prst="rect">
            <a:avLst/>
          </a:prstGeom>
          <a:solidFill>
            <a:srgbClr val="1F7A54"/>
          </a:solidFill>
          <a:ln/>
        </p:spPr>
      </p:sp>
      <p:sp>
        <p:nvSpPr>
          <p:cNvPr id="21" name="Text 19"/>
          <p:cNvSpPr/>
          <p:nvPr/>
        </p:nvSpPr>
        <p:spPr>
          <a:xfrm>
            <a:off x="8826703" y="4133088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"MFDS 수출용 허가 26건"이 더 강한 문구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120640"/>
            <a:ext cx="11094415" cy="0"/>
          </a:xfrm>
          <a:prstGeom prst="line">
            <a:avLst/>
          </a:prstGeom>
          <a:noFill/>
          <a:ln w="9525">
            <a:solidFill>
              <a:srgbClr val="EFEF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230368"/>
            <a:ext cx="1965960" cy="841248"/>
          </a:xfrm>
          <a:prstGeom prst="rect">
            <a:avLst/>
          </a:prstGeom>
          <a:solidFill>
            <a:srgbClr val="F4F6F8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230368"/>
            <a:ext cx="1783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GANA Cosmetic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97480" y="5193792"/>
            <a:ext cx="58366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SKU 4개국어 완역을 이미 보유한 유일한 그룹 자산인데 레퍼런스로 못 썼다  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원문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en/zh/th/vi UI · 32 SKU 전량 번역 · 6사 사이트 등급 최상위 29/45(B)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716975" y="5230368"/>
            <a:ext cx="2926080" cy="841248"/>
          </a:xfrm>
          <a:prstGeom prst="rect">
            <a:avLst/>
          </a:prstGeom>
          <a:solidFill>
            <a:srgbClr val="1F7A54"/>
          </a:solidFill>
          <a:ln/>
        </p:spPr>
      </p:sp>
      <p:sp>
        <p:nvSpPr>
          <p:cNvPr id="27" name="Text 25"/>
          <p:cNvSpPr/>
          <p:nvPr/>
        </p:nvSpPr>
        <p:spPr>
          <a:xfrm>
            <a:off x="8826703" y="5230368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다국어 규격 레퍼런스로 승격, 신규 발주는 Es·Ру만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GANA GROUP  ·  전략 진단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23A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렌즈 02  </a:t>
            </a:r>
            <a:pPr indent="0" marL="0">
              <a:buNone/>
            </a:pPr>
            <a:r>
              <a:rPr lang="en-US" sz="1200" b="1" spc="200" kern="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 ↔ 검증  —  없는 것을 크게 건다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 첫 페이지에서 터진다 — 이미 학술지가 'false statement'라 반박했다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0"/>
          </a:xfrm>
          <a:prstGeom prst="line">
            <a:avLst/>
          </a:prstGeom>
          <a:noFill/>
          <a:ln w="25400">
            <a:solidFill>
              <a:srgbClr val="B23A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38528"/>
            <a:ext cx="1965960" cy="621792"/>
          </a:xfrm>
          <a:prstGeom prst="rect">
            <a:avLst/>
          </a:prstGeom>
          <a:solidFill>
            <a:srgbClr val="F4F6F8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38528"/>
            <a:ext cx="1783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GANA R&amp;D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97480" y="1901952"/>
            <a:ext cx="583661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"US FDA-approved PLLA filler"가 학술지 Letter에서 'a false statement'로 공개 반박됐다  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확인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Aesthetic Plastic Surgery(2023) Letter to the Editor · 동일 건물 타사는 FDA 정상 등재, GANA만 0건 → 실질 부재 확정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16975" y="1938528"/>
            <a:ext cx="2926080" cy="62179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9" name="Text 7"/>
          <p:cNvSpPr/>
          <p:nvPr/>
        </p:nvSpPr>
        <p:spPr>
          <a:xfrm>
            <a:off x="8826703" y="1938528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FDA 관련 의료기기 문구 전면 제거 (방어 불가)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706624"/>
            <a:ext cx="11094415" cy="0"/>
          </a:xfrm>
          <a:prstGeom prst="line">
            <a:avLst/>
          </a:prstGeom>
          <a:noFill/>
          <a:ln w="9525">
            <a:solidFill>
              <a:srgbClr val="EFEF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816352"/>
            <a:ext cx="1965960" cy="621792"/>
          </a:xfrm>
          <a:prstGeom prst="rect">
            <a:avLst/>
          </a:prstGeom>
          <a:solidFill>
            <a:srgbClr val="F4F6F8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16352"/>
            <a:ext cx="1783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GANA Cosmetic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2779776"/>
            <a:ext cx="583661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"U.S. FDA-registered manufacturer"라 쓰지만 국세청 업태는 도소매업이다  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원문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확인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업태 도매및소매업(G47813) · FDA 근거는 VCRP 1건뿐, VCRP는 2023-03-27 폐지 · 'FDA registered' 제품명 삽입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716975" y="2816352"/>
            <a:ext cx="2926080" cy="62179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5" name="Text 13"/>
          <p:cNvSpPr/>
          <p:nvPr/>
        </p:nvSpPr>
        <p:spPr>
          <a:xfrm>
            <a:off x="8826703" y="2816352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제조원/판매원 구조로 표기 정정 (misbranding 리스크)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584448"/>
            <a:ext cx="11094415" cy="0"/>
          </a:xfrm>
          <a:prstGeom prst="line">
            <a:avLst/>
          </a:prstGeom>
          <a:noFill/>
          <a:ln w="9525">
            <a:solidFill>
              <a:srgbClr val="EFEF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694176"/>
            <a:ext cx="1965960" cy="621792"/>
          </a:xfrm>
          <a:prstGeom prst="rect">
            <a:avLst/>
          </a:prstGeom>
          <a:solidFill>
            <a:srgbClr val="F4F6F8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694176"/>
            <a:ext cx="1783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GANA R&amp;D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CE·ISO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97480" y="3657600"/>
            <a:ext cx="583661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사이트에 걸린 CE·ISO·GMP 인증서 4건이 전부 만료, 근거 표준도 폐지본이다  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확인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CE(NB 1023, ~2024-05, 구 MDD 근거) · ISO 13485(~2016) · ISO 9001(2008판) · KGMP(~2020-02) 전부 만료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16975" y="3694176"/>
            <a:ext cx="2926080" cy="62179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21" name="Text 19"/>
          <p:cNvSpPr/>
          <p:nvPr/>
        </p:nvSpPr>
        <p:spPr>
          <a:xfrm>
            <a:off x="8826703" y="3694176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만료 배지 즉시 내림. MDR 전환본·현행 ISO 원본 징구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462272"/>
            <a:ext cx="11094415" cy="0"/>
          </a:xfrm>
          <a:prstGeom prst="line">
            <a:avLst/>
          </a:prstGeom>
          <a:noFill/>
          <a:ln w="9525">
            <a:solidFill>
              <a:srgbClr val="EFEF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572000"/>
            <a:ext cx="1965960" cy="621792"/>
          </a:xfrm>
          <a:prstGeom prst="rect">
            <a:avLst/>
          </a:prstGeom>
          <a:solidFill>
            <a:srgbClr val="F4F6F8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572000"/>
            <a:ext cx="1783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Dr.Park CDMO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97480" y="4535424"/>
            <a:ext cx="583661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AAV 배치용량이 자사 문서 4종에서 5,000/5,800/6,000/200,000L로 갈린다  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자사주장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확인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TF 보도자료 5,000L ≠ 사이트 6,000L ≠ CPHI 6,000L ≠ koravie 200,000L(40배). cGMP·준공일도 미갱신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716975" y="4572000"/>
            <a:ext cx="2926080" cy="62179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27" name="Text 25"/>
          <p:cNvSpPr/>
          <p:nvPr/>
        </p:nvSpPr>
        <p:spPr>
          <a:xfrm>
            <a:off x="8826703" y="457200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문구의 전제 = 숫자 통일. 이게 먼저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340096"/>
            <a:ext cx="11094415" cy="0"/>
          </a:xfrm>
          <a:prstGeom prst="line">
            <a:avLst/>
          </a:prstGeom>
          <a:noFill/>
          <a:ln w="9525">
            <a:solidFill>
              <a:srgbClr val="EFEF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449824"/>
            <a:ext cx="1965960" cy="621792"/>
          </a:xfrm>
          <a:prstGeom prst="rect">
            <a:avLst/>
          </a:prstGeom>
          <a:solidFill>
            <a:srgbClr val="F4F6F8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449824"/>
            <a:ext cx="1783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KoraVie UK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97480" y="5413248"/>
            <a:ext cx="5836615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등기상 향수·화장품 도매 법인이 의료기기·AAV·AI진단을 표방하며 투자를 소구한다  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확인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원문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SIC 46450 도매 단일 · PSC 0명·재무제표 미제출 · CTA "Investor Relations" → FSMA s.21 리스크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716975" y="5449824"/>
            <a:ext cx="2926080" cy="62179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33" name="Text 31"/>
          <p:cNvSpPr/>
          <p:nvPr/>
        </p:nvSpPr>
        <p:spPr>
          <a:xfrm>
            <a:off x="8826703" y="5449824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CI 부여 = 연대 책임. 법무 판단 전 토큰 제한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GANA GROUP  ·  전략 진단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D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렌즈 03  </a:t>
            </a:r>
            <a:pPr indent="0" marL="0">
              <a:buNone/>
            </a:pPr>
            <a:r>
              <a:rPr lang="en-US" sz="1200" b="1" spc="200" kern="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↔ 방치  —  돈 낸 자산이 사장됐다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지불한 등록·자산이 텍스트가 아니라 스캔·게시판에 묻혀 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0"/>
          </a:xfrm>
          <a:prstGeom prst="line">
            <a:avLst/>
          </a:prstGeom>
          <a:noFill/>
          <a:ln w="25400">
            <a:solidFill>
              <a:srgbClr val="C77D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38528"/>
            <a:ext cx="1965960" cy="841248"/>
          </a:xfrm>
          <a:prstGeom prst="rect">
            <a:avLst/>
          </a:prstGeom>
          <a:solidFill>
            <a:srgbClr val="F4F6F8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38528"/>
            <a:ext cx="1783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GANA R&amp;D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EUDAMED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97480" y="1901952"/>
            <a:ext cx="58366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 규제 실체의 최상급 증거(EUDAMED 제조자 SRN)가 미표기다  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확인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SRN KR-MF-000037221, Manufacturer/active, 2023-08-17 등록 · SRN 1줄로 Trust Center 등재 가능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16975" y="1938528"/>
            <a:ext cx="2926080" cy="841248"/>
          </a:xfrm>
          <a:prstGeom prst="rect">
            <a:avLst/>
          </a:prstGeom>
          <a:solidFill>
            <a:srgbClr val="C77D12"/>
          </a:solidFill>
          <a:ln/>
        </p:spPr>
      </p:sp>
      <p:sp>
        <p:nvSpPr>
          <p:cNvPr id="9" name="Text 7"/>
          <p:cNvSpPr/>
          <p:nvPr/>
        </p:nvSpPr>
        <p:spPr>
          <a:xfrm>
            <a:off x="8826703" y="1938528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 시장 신뢰의 핵심. 비용 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1094415" cy="0"/>
          </a:xfrm>
          <a:prstGeom prst="line">
            <a:avLst/>
          </a:prstGeom>
          <a:noFill/>
          <a:ln w="9525">
            <a:solidFill>
              <a:srgbClr val="EFEF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035808"/>
            <a:ext cx="1965960" cy="841248"/>
          </a:xfrm>
          <a:prstGeom prst="rect">
            <a:avLst/>
          </a:prstGeom>
          <a:solidFill>
            <a:srgbClr val="F4F6F8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35808"/>
            <a:ext cx="1783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박용호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2999232"/>
            <a:ext cx="58366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"patented"라고만 쓴 Filler X 특허가 실재 등록특허인데 번호가 없어 검증 불가  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확인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KR101647182B1·KR101490613B1 등록 확인 — 단 박용호 개인 명의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716975" y="3035808"/>
            <a:ext cx="2926080" cy="841248"/>
          </a:xfrm>
          <a:prstGeom prst="rect">
            <a:avLst/>
          </a:prstGeom>
          <a:solidFill>
            <a:srgbClr val="C77D12"/>
          </a:solidFill>
          <a:ln/>
        </p:spPr>
      </p:sp>
      <p:sp>
        <p:nvSpPr>
          <p:cNvPr id="15" name="Text 13"/>
          <p:cNvSpPr/>
          <p:nvPr/>
        </p:nvSpPr>
        <p:spPr>
          <a:xfrm>
            <a:off x="8826703" y="3035808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 붙이면 즉시 검증. 단 법인 양도등록 검토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11094415" cy="0"/>
          </a:xfrm>
          <a:prstGeom prst="line">
            <a:avLst/>
          </a:prstGeom>
          <a:noFill/>
          <a:ln w="9525">
            <a:solidFill>
              <a:srgbClr val="EFEF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133088"/>
            <a:ext cx="1965960" cy="841248"/>
          </a:xfrm>
          <a:prstGeom prst="rect">
            <a:avLst/>
          </a:prstGeom>
          <a:solidFill>
            <a:srgbClr val="F4F6F8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33088"/>
            <a:ext cx="1783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GANA R&amp;D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97480" y="4096512"/>
            <a:ext cx="58366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인증서 15장을 확보했으나 본문 0자·alt="" 스캔이라 어디에도 안 잡힌다  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원문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미확인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Certification 페이지 본문 0자, 인증서 이미지 ~15건 전부 alt="" 스캔 · 번호·유효기간 전부 미확인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16975" y="4133088"/>
            <a:ext cx="2926080" cy="841248"/>
          </a:xfrm>
          <a:prstGeom prst="rect">
            <a:avLst/>
          </a:prstGeom>
          <a:solidFill>
            <a:srgbClr val="C77D12"/>
          </a:solidFill>
          <a:ln/>
        </p:spPr>
      </p:sp>
      <p:sp>
        <p:nvSpPr>
          <p:cNvPr id="21" name="Text 19"/>
          <p:cNvSpPr/>
          <p:nvPr/>
        </p:nvSpPr>
        <p:spPr>
          <a:xfrm>
            <a:off x="8826703" y="4133088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번호·기관·유효기간 텍스트화(SEO·접근성·규제 3축)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120640"/>
            <a:ext cx="11094415" cy="0"/>
          </a:xfrm>
          <a:prstGeom prst="line">
            <a:avLst/>
          </a:prstGeom>
          <a:noFill/>
          <a:ln w="9525">
            <a:solidFill>
              <a:srgbClr val="EFEF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230368"/>
            <a:ext cx="1965960" cy="841248"/>
          </a:xfrm>
          <a:prstGeom prst="rect">
            <a:avLst/>
          </a:prstGeom>
          <a:solidFill>
            <a:srgbClr val="F4F6F8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230368"/>
            <a:ext cx="1783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Dr.Park CDMO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97480" y="5193792"/>
            <a:ext cx="58366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재촬영 없이 이관 가능한 유일한 제조 실사 45장이 2014년 게시판에 묻혀 있다  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신규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고유 이미지 45장(시설 실사 21장) · 텍스트/HTML 비율 33.34% 6사 최고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716975" y="5230368"/>
            <a:ext cx="2926080" cy="841248"/>
          </a:xfrm>
          <a:prstGeom prst="rect">
            <a:avLst/>
          </a:prstGeom>
          <a:solidFill>
            <a:srgbClr val="C77D12"/>
          </a:solidFill>
          <a:ln/>
        </p:spPr>
      </p:sp>
      <p:sp>
        <p:nvSpPr>
          <p:cNvPr id="27" name="Text 25"/>
          <p:cNvSpPr/>
          <p:nvPr/>
        </p:nvSpPr>
        <p:spPr>
          <a:xfrm>
            <a:off x="8826703" y="5230368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재구축 2순위 근거(이관 비용 최저)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GANA GROUP  ·  전략 진단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렌즈 04  </a:t>
            </a:r>
            <a:pPr indent="0" marL="0">
              <a:buNone/>
            </a:pPr>
            <a:r>
              <a:rPr lang="en-US" sz="1200" b="1" spc="200" kern="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↔ 위험  —  지금 안 하면 무너진다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브랜딩·문구보다 먼저 처리해야 하는, 기한이 걸린 것들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0"/>
          </a:xfrm>
          <a:prstGeom prst="line">
            <a:avLst/>
          </a:prstGeom>
          <a:noFill/>
          <a:ln w="25400">
            <a:solidFill>
              <a:srgbClr val="0B1F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38528"/>
            <a:ext cx="1965960" cy="841248"/>
          </a:xfrm>
          <a:prstGeom prst="rect">
            <a:avLst/>
          </a:prstGeom>
          <a:solidFill>
            <a:srgbClr val="F4F6F8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38528"/>
            <a:ext cx="1783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 인증대리인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97480" y="1901952"/>
            <a:ext cx="58366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 인증대리인(AR) 위임이 만료되면 EU 시장 출시 요건이 즉시 무너진다  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확인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D-3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EUDAMED AR = CMC Medical Devices SL(말라가), 위임기간 ~2026-07-25 · 갱신 여부 오늘 확인 필요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16975" y="1938528"/>
            <a:ext cx="2926080" cy="84124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9" name="Text 7"/>
          <p:cNvSpPr/>
          <p:nvPr/>
        </p:nvSpPr>
        <p:spPr>
          <a:xfrm>
            <a:off x="8826703" y="1938528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브랜딩과 무관하게 오늘 확인 (비용 0)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1094415" cy="0"/>
          </a:xfrm>
          <a:prstGeom prst="line">
            <a:avLst/>
          </a:prstGeom>
          <a:noFill/>
          <a:ln w="9525">
            <a:solidFill>
              <a:srgbClr val="EFEF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035808"/>
            <a:ext cx="1965960" cy="841248"/>
          </a:xfrm>
          <a:prstGeom prst="rect">
            <a:avLst/>
          </a:prstGeom>
          <a:solidFill>
            <a:srgbClr val="F4F6F8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35808"/>
            <a:ext cx="1783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ANVISA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(브라질)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2999232"/>
            <a:ext cx="58366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ANVISA 등록 GANA X(위험등급 IV, 최대)가 만료 임박이다  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확인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D-28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80781300006, ~2026-08-19 · 등록보유자가 자사 아닌 SKINSTORE S.A. → 갱신 통제권 확인 병행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716975" y="3035808"/>
            <a:ext cx="2926080" cy="84124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8826703" y="3035808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갱신비 투입 + 통제권 확인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11094415" cy="0"/>
          </a:xfrm>
          <a:prstGeom prst="line">
            <a:avLst/>
          </a:prstGeom>
          <a:noFill/>
          <a:ln w="9525">
            <a:solidFill>
              <a:srgbClr val="EFEF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133088"/>
            <a:ext cx="1965960" cy="841248"/>
          </a:xfrm>
          <a:prstGeom prst="rect">
            <a:avLst/>
          </a:prstGeom>
          <a:solidFill>
            <a:srgbClr val="F4F6F8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33088"/>
            <a:ext cx="1783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GANA R&amp;D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97480" y="4096512"/>
            <a:ext cx="58366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대외비 34개국 총판 매트릭스가 로그인 없이 다운로드되고 대표 개인정보가 노출된다  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원문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총판 PDF 무인증 다운로드 · 대표 개인 휴대폰·이메일 다수 사이트 공통 · 총판 20여 곳 실명·주소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16975" y="4133088"/>
            <a:ext cx="2926080" cy="84124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8826703" y="4133088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처리. 개인→법인 채널 (GDPR 리스크)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120640"/>
            <a:ext cx="11094415" cy="0"/>
          </a:xfrm>
          <a:prstGeom prst="line">
            <a:avLst/>
          </a:prstGeom>
          <a:noFill/>
          <a:ln w="9525">
            <a:solidFill>
              <a:srgbClr val="EFEF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230368"/>
            <a:ext cx="1965960" cy="841248"/>
          </a:xfrm>
          <a:prstGeom prst="rect">
            <a:avLst/>
          </a:prstGeom>
          <a:solidFill>
            <a:srgbClr val="F4F6F8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230368"/>
            <a:ext cx="1783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제재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97480" y="5193792"/>
            <a:ext cx="58366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총판 목록에 점령지역·이란·시리아가 개인 납세자번호와 함께 게재됐다  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원문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"Ukraine(including Donetsk)" + 개인 납세자번호 · 이란·시리아 총판 병존 · EU Reg 2022/263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716975" y="5230368"/>
            <a:ext cx="2926080" cy="84124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7" name="Text 25"/>
          <p:cNvSpPr/>
          <p:nvPr/>
        </p:nvSpPr>
        <p:spPr>
          <a:xfrm>
            <a:off x="8826703" y="5230368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제재 컴플라이언스 법률검토 즉시 (3중 교차)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GANA GROUP  ·  전략 진단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9A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무거운 단일 리스크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CE·특허 40건이 '남의 법인' 것일 수 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D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건물(둔촌대로 555)에 대표자가 다른 별도 법인이 있다.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2019년 언론이 보도한 "PLLA 필러 세계 2번째 CE"·"국내특허 28+해외 12=40건"의 주체는 GANA R&amp;D가 아니라 ㈜지씨에스(GCS)일 수 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5120640" cy="1280160"/>
          </a:xfrm>
          <a:prstGeom prst="rect">
            <a:avLst/>
          </a:prstGeom>
          <a:solidFill>
            <a:srgbClr val="13294A"/>
          </a:solidFill>
          <a:ln w="19050">
            <a:solidFill>
              <a:srgbClr val="1F7A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3649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GANA R&amp;D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85876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박용호  ·  러시아 등재 8건 제조사 일치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3200400"/>
            <a:ext cx="5120640" cy="1280160"/>
          </a:xfrm>
          <a:prstGeom prst="rect">
            <a:avLst/>
          </a:prstGeom>
          <a:solidFill>
            <a:srgbClr val="13294A"/>
          </a:solidFill>
          <a:ln w="19050">
            <a:solidFill>
              <a:srgbClr val="B23A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33649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㈜지씨에스 (GCS)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263640" y="385876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김창식  ·  사업자 105-87-54103 · 1008호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15000" y="352044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11094415" cy="137160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846320"/>
            <a:ext cx="1054577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심각한가 —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BE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 도미노는 "GANA는 성분을 자사 GMP로 직접 만드는 제조사"였고, 그 증거로 CE·특허를 써왔다. 증거의 일부가 남의 것이라면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사다리의 뿌리 정의 자체가 흔들린다.
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등기부등본·주주명부로 법인 관계 확정이 브랜드 작업보다 앞선 모든 것의 선행 조건. 실사에서 가장 먼저 터지는 항목이다.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GANA GROUP  ·  전략 진단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D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 </a:t>
            </a:r>
            <a:pPr indent="0" marL="0">
              <a:buNone/>
            </a:pPr>
            <a:r>
              <a:rPr lang="en-US" sz="1200" b="1" spc="200" kern="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IMPACT × CERTAINTY × URGENCY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먼저 말하고, 무엇을 먼저 막을 것인가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6949440" cy="4206240"/>
          </a:xfrm>
          <a:prstGeom prst="rect">
            <a:avLst/>
          </a:prstGeom>
          <a:solidFill>
            <a:srgbClr val="F4F6F8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0" y="1920240"/>
            <a:ext cx="0" cy="420624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4023360"/>
            <a:ext cx="6949440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0195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시급성 高 →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↑ 임팩트 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막을 것 (Sev-0)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587752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FDA 표기 삭제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만료 인증 배지 내림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개인정보·총판 PDF 비공개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제재 지역 법률검토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06240" y="2240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살릴 것 (0원·최대이득)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06240" y="2587752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러시아 8건 번호+링크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MHRA Class III·EUDAMED SRN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MFDS 27건 현행 GMP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특허번호 표기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251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선결 확정 (법무)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599432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㈜지씨에스 법인 귀속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생산용량 수치 단일화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KoraVie 법적 지위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06240" y="4251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D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정비 후 활용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06240" y="4599432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인증서 텍스트화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다국어 규격화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SSL·표기 오류 정정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63840" y="1920240"/>
            <a:ext cx="3779215" cy="42062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8092440" y="2148840"/>
            <a:ext cx="3322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7D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정렬 규칙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092440" y="2606040"/>
            <a:ext cx="3322015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확실성 = 이미 태그로 판정됨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D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(확인)만 대외 인용, (자사주장·미확인)은 리스크로.
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7FD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말할 것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D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확인 등재 62건 (비용 0, 즉시 신뢰 상승)
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89A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막을 것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D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FDA·만료 배지·개인정보 (실사·규제 노출)
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정할 것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D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법인 귀속·숫자 단일화 (모든 카피의 전제)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GANA GROUP  ·  전략 진단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D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 </a:t>
            </a:r>
            <a:pPr indent="0" marL="0">
              <a:buNone/>
            </a:pPr>
            <a:r>
              <a:rPr lang="en-US" sz="1200" b="1" spc="200" kern="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IMMEDIATE ACTIONS · 대부분 비용 0원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주에 착수할 수 있는 것 — 예산이 아니라 결정의 문제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11094415" cy="5486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9384"/>
            <a:ext cx="457200" cy="43891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2938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87452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㈜지씨에스 ↔ GANA R&amp;D 법인 관계 확정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716975" y="1874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23A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법무 — 모든 것의 선행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78024"/>
            <a:ext cx="457200" cy="43891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7802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242316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생산용량 수치 단일화 (5,000/6,000/200,000 → 1)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16975" y="24231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 판단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11094415" cy="5486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026664"/>
            <a:ext cx="457200" cy="438912"/>
          </a:xfrm>
          <a:prstGeom prst="rect">
            <a:avLst/>
          </a:prstGeom>
          <a:solidFill>
            <a:srgbClr val="1F7A5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02666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297180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"Russia FDA" → Roszdravnadzor 8건 + 조회 링크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16975" y="2971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7A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· 최대 이득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575304"/>
            <a:ext cx="457200" cy="43891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57530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34440" y="35204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만료 인증 배지 내림 (GMP·CE)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16975" y="35204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23A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· 법적 리스크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069080"/>
            <a:ext cx="11094415" cy="5486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123944"/>
            <a:ext cx="457200" cy="43891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12394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34440" y="406908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"FDA registered/approved" 표기 삭제 또는 정밀화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16975" y="40690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23A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· 규제 리스크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672584"/>
            <a:ext cx="457200" cy="438912"/>
          </a:xfrm>
          <a:prstGeom prst="rect">
            <a:avLst/>
          </a:prstGeom>
          <a:solidFill>
            <a:srgbClr val="C77D12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67258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34440" y="461772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 AR 위임 갱신 여부 확인 (D-3) · ANVISA 갱신 (D-28)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716975" y="46177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77D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규제 · 기한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" y="5221224"/>
            <a:ext cx="457200" cy="438912"/>
          </a:xfrm>
          <a:prstGeom prst="rect">
            <a:avLst/>
          </a:prstGeom>
          <a:solidFill>
            <a:srgbClr val="C77D12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522122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234440" y="516636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개인정보·대외비 총판 PDF 비공개 + 색인 제거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716975" y="5166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77D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인프라 · GDPR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5769864"/>
            <a:ext cx="457200" cy="438912"/>
          </a:xfrm>
          <a:prstGeom prst="rect">
            <a:avLst/>
          </a:prstGeom>
          <a:solidFill>
            <a:srgbClr val="6E6E6E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576986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234440" y="571500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KFDA→MFDS · 순일→선일 · 우편번호 13215 · SSL 교체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716975" y="57150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· 표기 정정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GANA GROUP  ·  전략 진단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7D1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B6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 프레이밍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나쁜 소식이 아니라, 전략의 정당화다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94415" cy="2286000"/>
          </a:xfrm>
          <a:prstGeom prst="rect">
            <a:avLst/>
          </a:prstGeom>
          <a:solidFill>
            <a:srgbClr val="13294A"/>
          </a:solidFill>
          <a:ln w="12700">
            <a:solidFill>
              <a:srgbClr val="C77D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1036289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"러시아에 유효한 등록이 8건 있습니다. 그런데 우리 사이트에는 등록번호가 한 개도 없고, 대신 '러시아 FDA'라고 적혀 있습니다. 그런 기관은 없습니다.
</a:t>
            </a:r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C9D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반대로 배지로 크게 걸어둔 것 중에는 2020년과 2024년에 이미 만료된 것이 있습니다.
</a:t>
            </a:r>
            <a:pPr indent="0" marL="0">
              <a:lnSpc>
                <a:spcPct val="125000"/>
              </a:lnSpc>
              <a:buNone/>
            </a:pPr>
            <a:r>
              <a:rPr lang="en-US" sz="1600" b="1" i="1" dirty="0">
                <a:solidFill>
                  <a:srgbClr val="E4B6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가진 것은 안 쓰고, 없는 것은 크게 걸고 있습니다. 이걸 뒤집는 것이 이번 리브랜딩입니다."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A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쓰지 말 것  </a:t>
            </a:r>
            <a:pPr indent="0" marL="0">
              <a:buNone/>
            </a:pPr>
            <a:r>
              <a:rPr lang="en-US" sz="1300" dirty="0">
                <a:solidFill>
                  <a:srgbClr val="C9D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"인증이 만료됐습니다" · "FDA 등록이 없습니다" — 질책으로 들리고 방어를 부른다.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7FD1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 정당화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D3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"보이기 전에 숫자를 맞춰야 한다고 말씀드렸습니다. 반대로 했다면 만료된 인증서를 들고 산업 리포트에 등재 신청을 했을 겁니다."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GANA GROUP  ·  전략 진단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D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 </a:t>
            </a:r>
            <a:pPr indent="0" marL="0">
              <a:buNone/>
            </a:pPr>
            <a:r>
              <a:rPr lang="en-US" sz="1200" b="1" spc="200" kern="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진단에서 실행으로 — 3개의 게이트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3454298" cy="3291840"/>
          </a:xfrm>
          <a:prstGeom prst="rect">
            <a:avLst/>
          </a:prstGeom>
          <a:solidFill>
            <a:srgbClr val="F4F6F8"/>
          </a:solidFill>
          <a:ln w="19050">
            <a:solidFill>
              <a:srgbClr val="B23A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3454298" cy="64008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03120"/>
            <a:ext cx="345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GATE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29970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선결 확정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299709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법인 귀속·생산용량 수치·KoraVie 지위 확정. 브랜드 작업의 전제.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4846320"/>
            <a:ext cx="29970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법무·경영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68698" y="2011680"/>
            <a:ext cx="3454298" cy="3291840"/>
          </a:xfrm>
          <a:prstGeom prst="rect">
            <a:avLst/>
          </a:prstGeom>
          <a:solidFill>
            <a:srgbClr val="F4F6F8"/>
          </a:solidFill>
          <a:ln w="19050">
            <a:solidFill>
              <a:srgbClr val="C77D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8698" y="2011680"/>
            <a:ext cx="3454298" cy="640080"/>
          </a:xfrm>
          <a:prstGeom prst="rect">
            <a:avLst/>
          </a:prstGeom>
          <a:solidFill>
            <a:srgbClr val="C77D12"/>
          </a:solidFill>
          <a:ln/>
        </p:spPr>
      </p:sp>
      <p:sp>
        <p:nvSpPr>
          <p:cNvPr id="13" name="Text 11"/>
          <p:cNvSpPr/>
          <p:nvPr/>
        </p:nvSpPr>
        <p:spPr>
          <a:xfrm>
            <a:off x="4368698" y="2103120"/>
            <a:ext cx="345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GATE 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97298" y="2880360"/>
            <a:ext cx="29970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정화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597298" y="3520440"/>
            <a:ext cx="299709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만료 배지·FDA 표기·개인정보·제재 노출 제거. 기한 걸린 갱신 처리.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97298" y="4846320"/>
            <a:ext cx="29970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D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웹·규제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88757" y="2011680"/>
            <a:ext cx="3454298" cy="3291840"/>
          </a:xfrm>
          <a:prstGeom prst="rect">
            <a:avLst/>
          </a:prstGeom>
          <a:solidFill>
            <a:srgbClr val="F4F6F8"/>
          </a:solidFill>
          <a:ln w="19050">
            <a:solidFill>
              <a:srgbClr val="1F7A5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8757" y="2011680"/>
            <a:ext cx="3454298" cy="640080"/>
          </a:xfrm>
          <a:prstGeom prst="rect">
            <a:avLst/>
          </a:prstGeom>
          <a:solidFill>
            <a:srgbClr val="1F7A54"/>
          </a:solidFill>
          <a:ln/>
        </p:spPr>
      </p:sp>
      <p:sp>
        <p:nvSpPr>
          <p:cNvPr id="19" name="Text 17"/>
          <p:cNvSpPr/>
          <p:nvPr/>
        </p:nvSpPr>
        <p:spPr>
          <a:xfrm>
            <a:off x="8188757" y="2103120"/>
            <a:ext cx="345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GATE 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7357" y="2880360"/>
            <a:ext cx="29970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승격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417357" y="3520440"/>
            <a:ext cx="299709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62건 확인 등재를 Trust Center로. 인증서 텍스트화·다국어 규격화.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417357" y="4846320"/>
            <a:ext cx="29970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A5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웹·콘텐츠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57784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7D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리브랜딩의 본질은 새 언어를 만드는 것이 아니라,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'가진 것은 못 쓰고, 없는 것은 크게 건다'는 방향을 뒤집는 것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이다.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GANA GROUP  ·  전략 진단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2026-07-24T12:35:29Z</dcterms:created>
  <dcterms:modified xsi:type="dcterms:W3CDTF">2026-07-24T12:35:29Z</dcterms:modified>
</cp:coreProperties>
</file>