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01A005-DECF-4FF0-A1E5-D00E556B31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C694A1D-ACE2-46FB-9FAF-5943D7854B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90926D-EEA7-4D54-8972-849E5291D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C984332-28D0-4E8F-81EF-9A8075555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B27DC5-1EDF-4C93-8D90-1201E8BF6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0794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29026-3BF1-493B-8CE8-D1597C6C5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96D915-F8E8-454B-BF64-273768266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EB2A23F-B930-417D-9B47-26451D4D4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C6998B5-FD26-4A0D-9C23-2124ABF0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78309F-6978-43F2-ADA8-F1F3B46B5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48194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CC0117-E64A-4315-A73B-3FE1F88B7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EBF4773-20ED-4A8F-A7E2-07788F194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B341911-8908-4C06-A376-CEDB60F32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A748547-FA37-4D37-9192-0DBE5E3B3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5A876B-53EB-401B-A9F5-FCBF39CDD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543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E614A5-3B71-41B2-8A0D-87E9876B0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C989F-4C0A-4B07-9F8A-663C5B3429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C8E39CA-7D43-426B-A8D8-DFE9131640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1B97E8F-C114-45AD-9787-C22412538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C2A799-E6B8-4EA5-8017-DC77C5D7F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7B7F36-5151-45C3-B56B-2A82DD64A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0839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1637F1-6E96-4C6B-BBC8-DFE9C233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AC7C91D-2F5F-4582-8904-05E324B114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015ED1-9BA5-4C81-A03A-CE0B8A2D2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BB8F3F8-8236-416D-B145-E7E4488EFF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B088D6A-EEC1-4ACD-BD2C-E9DE778C28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EB56DDD-A591-40BC-9358-EA8DBE3A48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349C06A-2E1B-46E4-893E-29B52F0F8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33126F-2F44-425B-9C72-F12902C2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99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9936A5-7FE4-4B34-8339-47234CCB0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D9BBA1DE-808D-41D4-895D-10108FBEB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99BF042-A9F0-4187-9A83-D15C74723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9D68CEF-37C5-43DD-9420-5BB3D0AC1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11549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DE3AA3FE-06BF-42E2-BF1F-4C81CA07B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205E7D6-4AB6-434A-A28D-4B4100041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98D540-4820-4E27-BC5C-238184D58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17060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91BA9C-83F9-40C5-9538-0606D920C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F211CD-911A-4F9E-8295-14574DCE6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59855A4-65DF-4B60-8D15-C1A9654C24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5573BB-7B4E-4726-AB17-110B720DA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793C6C-7314-4DF8-A72D-B41CDB8A7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8C4A69-6830-4EFD-83A3-238949969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37808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52DD64-E470-4BFE-B048-241F1458C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627EB2F-1AFF-4DF8-87E6-9E543017B5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03BC02A-B6B3-41EE-8331-D5D12360FE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EEE2A0-4A8C-402F-A1D9-F380912A2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EB65B1A-5E1E-48FF-8631-8A9A04D1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083EB6-4EC6-40ED-B7ED-A02F572DD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20391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84BB12-CED2-45AF-ABA3-E6E526BAD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2DB1365-2568-47AB-840F-9128A8D7D4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BB7BA59-558D-4787-A30F-31F03239D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C666C8E-ADBA-440F-B7F0-49F78E575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E1284DD-7346-4790-AEF6-9EE8F5690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60487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6DEF7B3-4DAE-4A2F-A711-5F6AA140D4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3C4160B-D4E4-4C6C-AE7D-CFACBC8AC0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245C3C3-5FA0-4424-B0EF-B5F20C706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DBEF23-A5DD-446B-BE15-400F941E7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D48EF9-637D-4B8C-88ED-E60E818FB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0687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8F46910-984F-486A-A4B6-3AA010AF14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5B8C63-EC40-4BAC-821E-1FE0F4B0B8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1F0E77-5FE8-4BBA-8057-42E5652304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9C6F20-E594-48AF-8496-8A58460C8F69}" type="datetimeFigureOut">
              <a:rPr lang="ko-KR" altLang="en-US" smtClean="0"/>
              <a:t>2026-07-23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84F97A-4054-44D4-9C25-08EF4A915F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2C23B02-ECB5-4D5C-8E34-D196BD0541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68C6BE-0406-436B-BC04-6B68A1DDFD1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8152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EEB1C612-77DD-43FB-B6DA-CF83FD21A22F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D818F-A798-498E-8E85-A599A6DC90E5}"/>
              </a:ext>
            </a:extLst>
          </p:cNvPr>
          <p:cNvSpPr txBox="1"/>
          <p:nvPr/>
        </p:nvSpPr>
        <p:spPr>
          <a:xfrm>
            <a:off x="812800" y="1905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내부 검토용 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· 2026. 7. 23 ·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회장 및 임원진 보고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E0E690-04EE-4DEA-86BB-9F3630D8B42D}"/>
              </a:ext>
            </a:extLst>
          </p:cNvPr>
          <p:cNvSpPr txBox="1"/>
          <p:nvPr/>
        </p:nvSpPr>
        <p:spPr>
          <a:xfrm>
            <a:off x="787400" y="2387600"/>
            <a:ext cx="10617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4400" b="1">
                <a:solidFill>
                  <a:srgbClr val="0B2545"/>
                </a:solidFill>
                <a:latin typeface="Malgun Gothic" panose="020B0503020000020004" pitchFamily="50" charset="-127"/>
              </a:rPr>
              <a:t>GANA </a:t>
            </a:r>
            <a:r>
              <a:rPr lang="ko-KR" altLang="en-US" sz="4400" b="1">
                <a:solidFill>
                  <a:srgbClr val="0B2545"/>
                </a:solidFill>
                <a:latin typeface="Malgun Gothic" panose="020B0503020000020004" pitchFamily="50" charset="-127"/>
              </a:rPr>
              <a:t>그룹 리브랜딩 방향 제시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43AB1-62D6-455D-979B-CD73B7F04075}"/>
              </a:ext>
            </a:extLst>
          </p:cNvPr>
          <p:cNvSpPr txBox="1"/>
          <p:nvPr/>
        </p:nvSpPr>
        <p:spPr>
          <a:xfrm>
            <a:off x="812800" y="3810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400">
                <a:solidFill>
                  <a:srgbClr val="5A6470"/>
                </a:solidFill>
                <a:latin typeface="Malgun Gothic" panose="020B0503020000020004" pitchFamily="50" charset="-127"/>
              </a:rPr>
              <a:t>없애지 않는다</a:t>
            </a:r>
            <a:r>
              <a:rPr lang="en-US" altLang="ko-KR" sz="2400">
                <a:solidFill>
                  <a:srgbClr val="5A6470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400">
                <a:solidFill>
                  <a:srgbClr val="5A6470"/>
                </a:solidFill>
                <a:latin typeface="Malgun Gothic" panose="020B0503020000020004" pitchFamily="50" charset="-127"/>
              </a:rPr>
              <a:t>증명을 붙인다</a:t>
            </a:r>
            <a:r>
              <a:rPr lang="en-US" altLang="ko-KR" sz="2400">
                <a:solidFill>
                  <a:srgbClr val="5A6470"/>
                </a:solidFill>
                <a:latin typeface="Malgun Gothic" panose="020B0503020000020004" pitchFamily="50" charset="-127"/>
              </a:rPr>
              <a:t>.</a:t>
            </a:r>
            <a:endParaRPr lang="ko-KR" altLang="en-US" sz="24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02A8C33-281F-4F6F-AAFF-5A0B44F887C6}"/>
              </a:ext>
            </a:extLst>
          </p:cNvPr>
          <p:cNvSpPr/>
          <p:nvPr/>
        </p:nvSpPr>
        <p:spPr>
          <a:xfrm>
            <a:off x="838200" y="3810000"/>
            <a:ext cx="0" cy="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3B3383-2149-4929-BD38-89627D84424E}"/>
              </a:ext>
            </a:extLst>
          </p:cNvPr>
          <p:cNvSpPr txBox="1"/>
          <p:nvPr/>
        </p:nvSpPr>
        <p:spPr>
          <a:xfrm>
            <a:off x="812800" y="5969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300">
                <a:solidFill>
                  <a:srgbClr val="5A6470"/>
                </a:solidFill>
                <a:latin typeface="Malgun Gothic" panose="020B0503020000020004" pitchFamily="50" charset="-127"/>
              </a:rPr>
              <a:t>웹 재구축 과업에서 출발한 그룹 브랜드 정렬 제안 </a:t>
            </a:r>
            <a:r>
              <a:rPr lang="en-US" altLang="ko-KR" sz="1300">
                <a:solidFill>
                  <a:srgbClr val="5A6470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1300">
                <a:solidFill>
                  <a:srgbClr val="5A6470"/>
                </a:solidFill>
                <a:latin typeface="Malgun Gothic" panose="020B0503020000020004" pitchFamily="50" charset="-127"/>
              </a:rPr>
              <a:t>발표 </a:t>
            </a:r>
            <a:r>
              <a:rPr lang="en-US" altLang="ko-KR" sz="1300">
                <a:solidFill>
                  <a:srgbClr val="5A6470"/>
                </a:solidFill>
                <a:latin typeface="Malgun Gothic" panose="020B0503020000020004" pitchFamily="50" charset="-127"/>
              </a:rPr>
              <a:t>10</a:t>
            </a:r>
            <a:r>
              <a:rPr lang="ko-KR" altLang="en-US" sz="1300">
                <a:solidFill>
                  <a:srgbClr val="5A6470"/>
                </a:solidFill>
                <a:latin typeface="Malgun Gothic" panose="020B0503020000020004" pitchFamily="50" charset="-127"/>
              </a:rPr>
              <a:t>분 </a:t>
            </a:r>
            <a:r>
              <a:rPr lang="en-US" altLang="ko-KR" sz="1300">
                <a:solidFill>
                  <a:srgbClr val="5A6470"/>
                </a:solidFill>
                <a:latin typeface="Malgun Gothic" panose="020B0503020000020004" pitchFamily="50" charset="-127"/>
              </a:rPr>
              <a:t>/ </a:t>
            </a:r>
            <a:r>
              <a:rPr lang="ko-KR" altLang="en-US" sz="1300">
                <a:solidFill>
                  <a:srgbClr val="5A6470"/>
                </a:solidFill>
                <a:latin typeface="Malgun Gothic" panose="020B0503020000020004" pitchFamily="50" charset="-127"/>
              </a:rPr>
              <a:t>승인 요청 </a:t>
            </a:r>
            <a:r>
              <a:rPr lang="en-US" altLang="ko-KR" sz="1300">
                <a:solidFill>
                  <a:srgbClr val="5A6470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1300">
                <a:solidFill>
                  <a:srgbClr val="5A6470"/>
                </a:solidFill>
                <a:latin typeface="Malgun Gothic" panose="020B0503020000020004" pitchFamily="50" charset="-127"/>
              </a:rPr>
              <a:t>건</a:t>
            </a:r>
          </a:p>
        </p:txBody>
      </p:sp>
    </p:spTree>
    <p:extLst>
      <p:ext uri="{BB962C8B-B14F-4D97-AF65-F5344CB8AC3E}">
        <p14:creationId xmlns:p14="http://schemas.microsoft.com/office/powerpoint/2010/main" val="3145894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7AEB75E-DFE6-49A0-8301-380EE47457EE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BF2B8F-D0AE-4138-B719-6265F3559B6F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오늘 </a:t>
            </a:r>
            <a:r>
              <a:rPr lang="en-US" altLang="ko-KR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10</a:t>
            </a:r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789D605-FD16-4BF6-AD30-C43E3FBA6191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세 가지만 말씀드립니다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A26724-2911-4032-A632-88EA284A23CE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1.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지금 우리 웹사이트에 무엇이 걸려 있는가 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문제</a:t>
            </a:r>
          </a:p>
          <a:p>
            <a:pPr>
              <a:spcAft>
                <a:spcPts val="1600"/>
              </a:spcAft>
            </a:pP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2.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우리가 실제로 가지고 있는 것 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해법</a:t>
            </a:r>
          </a:p>
          <a:p>
            <a:pPr>
              <a:spcAft>
                <a:spcPts val="1600"/>
              </a:spcAft>
            </a:pP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3.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승인 요청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건 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—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결정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3BD3DB0-A93B-4F30-BD30-F757E2BFCA44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D062CA-B828-48D3-A06E-A9FC5A1559DB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먼저 분명히 합니다 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없애는 것은 없습니다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안티에이징도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, ‘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세계 최대급’도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, 6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개 계열사도 그대로 갑니다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D5748B-BC04-47CE-B9A3-E372FE04EF6E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2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87951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507654-206F-44BC-A5AA-7E20778CE591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87D988-AD0E-41C5-9EFF-3B3A30140C2E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문제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2ECDC4-76CC-4E3C-95AE-38969C8FD70B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자격이 없는 게 아닙니다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가진 자격을 안 쓰고 있습니다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  <a:endParaRPr lang="ko-KR" altLang="en-US" sz="2700" b="1">
              <a:solidFill>
                <a:srgbClr val="0B254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E98E84-C49F-4E6B-AE36-75D87A6E22BB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‘노화를 케어한다’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화장품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필러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건기식이 다 쓰는 문장입니다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변별력이 없습니다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등록번호 게시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건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그 자리엔 “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Russia FDA approved”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가 있습니다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자사 제품명을 검색하면 우리가 아니라 유통사 사이트가 먼저 나옵니다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0B254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618297F-AEB5-4167-A9B4-6C278A6F2C61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DF737D-76CA-42A0-97CD-FF99FF8A1B7C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문제는 자격이 없다는 게 아니라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가진 자격을 쓰지 않고 있다는 것입니다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6527BD-853A-47A3-9EF9-9CE579FADB10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3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73430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623E4B04-12B9-49A3-A02E-DF054FCD55C2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8E3D2-1485-402B-9925-37D99FA8A076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C0392B"/>
                </a:solidFill>
                <a:latin typeface="Malgun Gothic" panose="020B0503020000020004" pitchFamily="50" charset="-127"/>
              </a:rPr>
              <a:t>결정적 발견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794B76-A937-46E7-A9D9-B12BEF410032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지금 우리 웹사이트에 이것들이 걸려 있습니다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11405E-915D-40B4-BC06-3FABF0618EB7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ko-KR" altLang="en-US" sz="2100" b="1">
                <a:solidFill>
                  <a:srgbClr val="C0392B"/>
                </a:solidFill>
                <a:latin typeface="Malgun Gothic" panose="020B0503020000020004" pitchFamily="50" charset="-127"/>
              </a:rPr>
              <a:t>“</a:t>
            </a:r>
            <a:r>
              <a:rPr lang="en-US" altLang="ko-KR" sz="2100" b="1">
                <a:solidFill>
                  <a:srgbClr val="C0392B"/>
                </a:solidFill>
                <a:latin typeface="Malgun Gothic" panose="020B0503020000020004" pitchFamily="50" charset="-127"/>
              </a:rPr>
              <a:t>Russia FDA approved” — </a:t>
            </a:r>
            <a:r>
              <a:rPr lang="ko-KR" altLang="en-US" sz="2100" b="1">
                <a:solidFill>
                  <a:srgbClr val="C0392B"/>
                </a:solidFill>
                <a:latin typeface="Malgun Gothic" panose="020B0503020000020004" pitchFamily="50" charset="-127"/>
              </a:rPr>
              <a:t>존재하지 않는 기관명입니다</a:t>
            </a:r>
            <a:r>
              <a:rPr lang="en-US" altLang="ko-KR" sz="2100" b="1">
                <a:solidFill>
                  <a:srgbClr val="C0392B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만료된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CE·ISO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인증 배지를 아직 게시 중입니다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“FDA approved” 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등록을 승인처럼 표기하고 있습니다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법적 노출입니다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0B254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DD8EBFE-3CF3-443D-9D27-E0FE8891E69D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D008A-E1E1-458A-815A-AAB8664787C7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실사 한 번</a:t>
            </a:r>
            <a:r>
              <a:rPr lang="en-US" altLang="ko-KR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경쟁사 신고 한 번이면 무너집니다</a:t>
            </a:r>
            <a:r>
              <a:rPr lang="en-US" altLang="ko-KR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.  </a:t>
            </a:r>
            <a:r>
              <a:rPr lang="ko-KR" altLang="en-US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고치는 비용</a:t>
            </a:r>
            <a:r>
              <a:rPr lang="en-US" altLang="ko-KR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: 0</a:t>
            </a:r>
            <a:r>
              <a:rPr lang="ko-KR" altLang="en-US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원</a:t>
            </a:r>
            <a:r>
              <a:rPr lang="en-US" altLang="ko-KR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.  </a:t>
            </a:r>
            <a:r>
              <a:rPr lang="ko-KR" altLang="en-US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승인도 필요 없습니다</a:t>
            </a:r>
            <a:r>
              <a:rPr lang="en-US" altLang="ko-KR" sz="1500" b="1">
                <a:solidFill>
                  <a:srgbClr val="C0392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C0392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A3824F7-595B-4877-9F22-B22041CE3077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4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08260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9D106C8-FFFA-4EF5-83A5-11F1F41128BC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C4E7B9-21A5-419F-862A-982140378D7D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해법의 근거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C2EB74-579F-4D3C-A9E2-71E04E91AB6E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우리가 실제로 가진 것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제품 등재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38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건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· 5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개 관할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86DB16A-D153-4B71-855C-D6F570AF74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5733493"/>
              </p:ext>
            </p:extLst>
          </p:nvPr>
        </p:nvGraphicFramePr>
        <p:xfrm>
          <a:off x="812800" y="2362200"/>
          <a:ext cx="105664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1927394944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2398839633"/>
                    </a:ext>
                  </a:extLst>
                </a:gridCol>
                <a:gridCol w="5740400">
                  <a:extLst>
                    <a:ext uri="{9D8B030D-6E8A-4147-A177-3AD203B41FA5}">
                      <a16:colId xmlns:a16="http://schemas.microsoft.com/office/drawing/2014/main" val="1647737408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관할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기관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건수 </a:t>
                      </a:r>
                      <a:r>
                        <a:rPr lang="en-US" altLang="ko-KR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비고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077326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영국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MHRA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건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Class III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993783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EU</a:t>
                      </a:r>
                      <a:endParaRPr lang="ko-KR" altLang="en-US" sz="1500" b="1">
                        <a:solidFill>
                          <a:srgbClr val="0E8C6B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EUDAMED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제조자 등록 활성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(SRN)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9883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브라질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ANVISA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2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건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위험등급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IV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20716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러시아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Roszdravnadzor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8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건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4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개 성분계열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+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창상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281625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한국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MFDS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27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건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GMP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적합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(~2027.3)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464409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63D06C0-A656-4CC9-B0CA-4E14BDD44FA0}"/>
              </a:ext>
            </a:extLst>
          </p:cNvPr>
          <p:cNvSpPr txBox="1"/>
          <p:nvPr/>
        </p:nvSpPr>
        <p:spPr>
          <a:xfrm>
            <a:off x="812800" y="59182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38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건 전부 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주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)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가나알엔디가 제조자로 기재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등록번호는 요청 즉시 제시 가능합니다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5EF66E-2D54-455E-8D78-A4AEDDD02B2C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5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85585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3B542AA-5E4C-4ABE-90E1-FD31D8F3B31F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C39B20-2B48-4508-ABAF-2B99644F5ADB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해법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6596D5-B0B7-401A-9FD1-795E27F5F1DF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축을 옮깁니다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— ‘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효능’에서 ‘제조 주체’로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8D14C9-895E-44C6-885F-BD4EE879952A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필러 회사가 아니라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바이오 생산 인프라입니다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“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그거 어떻게 증명하죠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?” → “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등재 내역 보여드리겠습니다”로 질문이 바뀝니다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공장을 가진 우리만 할 수 있는 말입니다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외주 브랜드는 복제할 수 없습니다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  <a:endParaRPr lang="ko-KR" altLang="en-US" sz="1900">
              <a:solidFill>
                <a:srgbClr val="0B254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6E9045A-5046-4B6F-AA22-72BEE72AA917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0A2621-9D98-45A3-A60B-C08868916C64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주장을 바꾸는 게 아닙니다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주장에 증명을 붙이는 것입니다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3B437-FC61-400A-A99E-01E8E23F6088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6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58710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D13A287-D968-4118-81E2-2F661F9208A4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F75FEB-7106-44EF-8028-00B4CC6BE679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이게 왜 안전한가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82D65-AD60-43D1-A20D-E1ABDEE26FE2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정직함이 무기입니다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층별로 다르게 말합니다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1DF917-A46A-4E75-A868-6D8A840AA809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표면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필러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소재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):  “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만들었습니다” 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완료형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등록번호 있음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조직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창상피복재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):  “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이미 등재돼 있습니다” 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완료형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세포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유전자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(AAV):  “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지었습니다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인증은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2026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년 목표입니다” 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진행형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FF4D7BE-CBBC-4AAF-AAA6-56EFB9DF1CD8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C9D56EC-5F6C-4100-A6D5-322BF3191568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증명 안 되는 층을 증명되는 층과 섞지 않습니다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그래야 실사에서 무너지지 않습니다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7F4B43-6D2C-48F8-84FC-61935D003271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7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54022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557D041D-5B8B-4123-82BA-22115F111791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45F8A3-84F9-4884-8DDC-B78BAFF434E8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그래서 웹입니다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0660B-ACA2-4C7D-BC29-0B14A60A74E6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웹사이트가 곧 실행입니다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886165-AAA6-4451-87CD-3383F30DA536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새 축은 “우리를 설명하는 걸 그만두고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번호를 건넨다”입니다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그 번호를 실제로 건네는 장소가 웹사이트입니다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1600"/>
              </a:spcAft>
            </a:pP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즉 제가 맡은 웹 재구축이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이 축이 ‘사실’이 되는 지점입니다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.</a:t>
            </a:r>
          </a:p>
          <a:p>
            <a:pPr>
              <a:spcAft>
                <a:spcPts val="800"/>
              </a:spcAft>
            </a:pPr>
            <a:r>
              <a:rPr lang="en-US" altLang="ko-KR" sz="1600">
                <a:solidFill>
                  <a:srgbClr val="5A6470"/>
                </a:solidFill>
                <a:latin typeface="Malgun Gothic" panose="020B0503020000020004" pitchFamily="50" charset="-127"/>
              </a:rPr>
              <a:t>      </a:t>
            </a:r>
            <a:r>
              <a:rPr lang="ko-KR" altLang="en-US" sz="1600">
                <a:solidFill>
                  <a:srgbClr val="5A6470"/>
                </a:solidFill>
                <a:latin typeface="Malgun Gothic" panose="020B0503020000020004" pitchFamily="50" charset="-127"/>
              </a:rPr>
              <a:t>이미 잘 만든 자산이 있습니다 </a:t>
            </a:r>
            <a:r>
              <a:rPr lang="en-US" altLang="ko-KR" sz="1600">
                <a:solidFill>
                  <a:srgbClr val="5A6470"/>
                </a:solidFill>
                <a:latin typeface="Malgun Gothic" panose="020B0503020000020004" pitchFamily="50" charset="-127"/>
              </a:rPr>
              <a:t>— gana-cosmetics.com</a:t>
            </a:r>
            <a:r>
              <a:rPr lang="ko-KR" altLang="en-US" sz="1600">
                <a:solidFill>
                  <a:srgbClr val="5A6470"/>
                </a:solidFill>
                <a:latin typeface="Malgun Gothic" panose="020B0503020000020004" pitchFamily="50" charset="-127"/>
              </a:rPr>
              <a:t>을 그룹 표준으로 승격합니다</a:t>
            </a:r>
            <a:r>
              <a:rPr lang="en-US" altLang="ko-KR" sz="1600">
                <a:solidFill>
                  <a:srgbClr val="5A6470"/>
                </a:solidFill>
                <a:latin typeface="Malgun Gothic" panose="020B0503020000020004" pitchFamily="50" charset="-127"/>
              </a:rPr>
              <a:t>.</a:t>
            </a:r>
            <a:endParaRPr lang="ko-KR" altLang="en-US" sz="16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C92B4B8B-81A8-4534-9838-F1906E5F7F30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DF66C0-6654-43AF-802E-D516E5640B28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밖에서 사올 게 아니라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우리 안에 이미 원본이 있습니다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062896-EBCC-4AB5-AECA-EE7C644503B4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8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3224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798FF44-1DE0-4960-BE13-47FD259C406D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B03FFB-E286-4F60-9081-18ADA8BDD198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추진 일정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8D5BBCC-DA7B-49AD-A829-E1307BEA09FA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정비 후 노출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순서를 지킵니다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795F514E-6311-4630-A215-9811273769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3080065"/>
              </p:ext>
            </p:extLst>
          </p:nvPr>
        </p:nvGraphicFramePr>
        <p:xfrm>
          <a:off x="812800" y="2362200"/>
          <a:ext cx="10566400" cy="279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447265623"/>
                    </a:ext>
                  </a:extLst>
                </a:gridCol>
                <a:gridCol w="2921000">
                  <a:extLst>
                    <a:ext uri="{9D8B030D-6E8A-4147-A177-3AD203B41FA5}">
                      <a16:colId xmlns:a16="http://schemas.microsoft.com/office/drawing/2014/main" val="1270035117"/>
                    </a:ext>
                  </a:extLst>
                </a:gridCol>
                <a:gridCol w="5740400">
                  <a:extLst>
                    <a:ext uri="{9D8B030D-6E8A-4147-A177-3AD203B41FA5}">
                      <a16:colId xmlns:a16="http://schemas.microsoft.com/office/drawing/2014/main" val="4254730623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단계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기간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1">
                          <a:solidFill>
                            <a:srgbClr val="FFFFFF"/>
                          </a:solidFill>
                          <a:latin typeface="Malgun Gothic" panose="020B0503020000020004" pitchFamily="50" charset="-127"/>
                        </a:rPr>
                        <a:t>추진 내용</a:t>
                      </a:r>
                    </a:p>
                  </a:txBody>
                  <a:tcPr anchor="ctr"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72744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P0</a:t>
                      </a:r>
                      <a:endParaRPr lang="ko-KR" altLang="en-US" sz="1500" b="1">
                        <a:solidFill>
                          <a:srgbClr val="0E8C6B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1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즉시 웹 정비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승인 불요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비용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0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원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87428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P1</a:t>
                      </a:r>
                      <a:endParaRPr lang="ko-KR" altLang="en-US" sz="1500" b="1">
                        <a:solidFill>
                          <a:srgbClr val="0E8C6B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2–4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축 확정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카피 가이드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디자인 표준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73694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P2</a:t>
                      </a:r>
                      <a:endParaRPr lang="ko-KR" altLang="en-US" sz="1500" b="1">
                        <a:solidFill>
                          <a:srgbClr val="0E8C6B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4–8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모회사 사이트 재구축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인증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·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등재 자료실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696250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1">
                          <a:solidFill>
                            <a:srgbClr val="0E8C6B"/>
                          </a:solidFill>
                          <a:latin typeface="Malgun Gothic" panose="020B0503020000020004" pitchFamily="50" charset="-127"/>
                        </a:rPr>
                        <a:t>P3</a:t>
                      </a:r>
                      <a:endParaRPr lang="ko-KR" altLang="en-US" sz="1500" b="1">
                        <a:solidFill>
                          <a:srgbClr val="0E8C6B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3–5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주</a:t>
                      </a: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Dr.Park CDMO 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개편 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(</a:t>
                      </a:r>
                      <a:r>
                        <a:rPr lang="ko-KR" altLang="en-US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수치 확정 후</a:t>
                      </a:r>
                      <a:r>
                        <a:rPr lang="en-US" altLang="ko-KR" sz="1500" b="0">
                          <a:solidFill>
                            <a:srgbClr val="0B2545"/>
                          </a:solidFill>
                          <a:latin typeface="Malgun Gothic" panose="020B0503020000020004" pitchFamily="50" charset="-127"/>
                        </a:rPr>
                        <a:t>)</a:t>
                      </a:r>
                      <a:endParaRPr lang="ko-KR" altLang="en-US" sz="1500" b="0">
                        <a:solidFill>
                          <a:srgbClr val="0B2545"/>
                        </a:solidFill>
                        <a:latin typeface="Malgun Gothic" panose="020B0503020000020004" pitchFamily="50" charset="-127"/>
                      </a:endParaRPr>
                    </a:p>
                  </a:txBody>
                  <a:tcPr anchor="ctr">
                    <a:solidFill>
                      <a:srgbClr val="F1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365093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C306F2D-BBCB-4B73-85C4-093F97524A76}"/>
              </a:ext>
            </a:extLst>
          </p:cNvPr>
          <p:cNvSpPr txBox="1"/>
          <p:nvPr/>
        </p:nvSpPr>
        <p:spPr>
          <a:xfrm>
            <a:off x="812800" y="5359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정비 이전에 노출부터 늘리면 역효과입니다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틀린 것을 먼저 내리고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그다음 알립니다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BDEED0-B43E-474A-B002-F8F5D507363A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9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64940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9CAB6B3-F252-46D2-A239-B6334D63A40A}"/>
              </a:ext>
            </a:extLst>
          </p:cNvPr>
          <p:cNvSpPr/>
          <p:nvPr/>
        </p:nvSpPr>
        <p:spPr>
          <a:xfrm>
            <a:off x="812800" y="660400"/>
            <a:ext cx="5842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827B09-F773-43EB-AF7B-885B1B220F7D}"/>
              </a:ext>
            </a:extLst>
          </p:cNvPr>
          <p:cNvSpPr txBox="1"/>
          <p:nvPr/>
        </p:nvSpPr>
        <p:spPr>
          <a:xfrm>
            <a:off x="812800" y="78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400" b="1">
                <a:solidFill>
                  <a:srgbClr val="0E8C6B"/>
                </a:solidFill>
                <a:latin typeface="Malgun Gothic" panose="020B0503020000020004" pitchFamily="50" charset="-127"/>
              </a:rPr>
              <a:t>결정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8F0E25-9BD2-483C-AEF8-F6307EFD978F}"/>
              </a:ext>
            </a:extLst>
          </p:cNvPr>
          <p:cNvSpPr txBox="1"/>
          <p:nvPr/>
        </p:nvSpPr>
        <p:spPr>
          <a:xfrm>
            <a:off x="787400" y="1168400"/>
            <a:ext cx="10668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승인 요청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4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건 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웹 스코프</a:t>
            </a:r>
            <a:r>
              <a:rPr lang="en-US" altLang="ko-KR" sz="2700" b="1">
                <a:solidFill>
                  <a:srgbClr val="0B2545"/>
                </a:solidFill>
                <a:latin typeface="Malgun Gothic" panose="020B0503020000020004" pitchFamily="50" charset="-127"/>
              </a:rPr>
              <a:t>)</a:t>
            </a:r>
            <a:endParaRPr lang="ko-KR" altLang="en-US" sz="2700" b="1">
              <a:solidFill>
                <a:srgbClr val="0B2545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C17523-1B66-4155-8E29-3C8C9E729AB5}"/>
              </a:ext>
            </a:extLst>
          </p:cNvPr>
          <p:cNvSpPr txBox="1"/>
          <p:nvPr/>
        </p:nvSpPr>
        <p:spPr>
          <a:xfrm>
            <a:off x="812800" y="24130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>
              <a:spcAft>
                <a:spcPts val="1600"/>
              </a:spcAft>
            </a:pP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1. 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즉시 웹 정비 착수 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승인 불요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· 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비용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0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원 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(</a:t>
            </a:r>
            <a:r>
              <a:rPr lang="ko-KR" altLang="en-US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오늘 시작 가능</a:t>
            </a:r>
            <a:r>
              <a:rPr lang="en-US" altLang="ko-KR" sz="2100" b="1">
                <a:solidFill>
                  <a:srgbClr val="0E8C6B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spcAft>
                <a:spcPts val="1600"/>
              </a:spcAft>
            </a:pP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2. 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대외 문구 정렬 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—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유지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+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증명 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(‘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세계 최대급’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안티에이징 그대로 유지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)</a:t>
            </a:r>
          </a:p>
          <a:p>
            <a:pPr>
              <a:spcAft>
                <a:spcPts val="1600"/>
              </a:spcAft>
            </a:pP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3. 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화장품 디자인 체계를 그룹 표준으로 승격</a:t>
            </a:r>
          </a:p>
          <a:p>
            <a:pPr>
              <a:spcAft>
                <a:spcPts val="1600"/>
              </a:spcAft>
            </a:pP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4.  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대외 규제 문구는 법무</a:t>
            </a:r>
            <a:r>
              <a:rPr lang="en-US" altLang="ko-KR" sz="1900">
                <a:solidFill>
                  <a:srgbClr val="0B2545"/>
                </a:solidFill>
                <a:latin typeface="Malgun Gothic" panose="020B0503020000020004" pitchFamily="50" charset="-127"/>
              </a:rPr>
              <a:t>·</a:t>
            </a:r>
            <a:r>
              <a:rPr lang="ko-KR" altLang="en-US" sz="1900">
                <a:solidFill>
                  <a:srgbClr val="0B2545"/>
                </a:solidFill>
                <a:latin typeface="Malgun Gothic" panose="020B0503020000020004" pitchFamily="50" charset="-127"/>
              </a:rPr>
              <a:t>규제 확인을 거친 것만 게시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A34E3AF-7B61-4528-9055-C96E953BDE5C}"/>
              </a:ext>
            </a:extLst>
          </p:cNvPr>
          <p:cNvSpPr/>
          <p:nvPr/>
        </p:nvSpPr>
        <p:spPr>
          <a:xfrm>
            <a:off x="812800" y="5740400"/>
            <a:ext cx="10566400" cy="12700"/>
          </a:xfrm>
          <a:prstGeom prst="rect">
            <a:avLst/>
          </a:prstGeom>
          <a:solidFill>
            <a:srgbClr val="D2D8D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7843B6-4048-4732-9A7F-DBB2A3A184EF}"/>
              </a:ext>
            </a:extLst>
          </p:cNvPr>
          <p:cNvSpPr txBox="1"/>
          <p:nvPr/>
        </p:nvSpPr>
        <p:spPr>
          <a:xfrm>
            <a:off x="812800" y="5867400"/>
            <a:ext cx="105664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폐기되는 자산은 없습니다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 </a:t>
            </a:r>
            <a:r>
              <a:rPr lang="ko-KR" altLang="en-US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가진 것을 쓰기 시작하는 것뿐입니다</a:t>
            </a:r>
            <a:r>
              <a:rPr lang="en-US" altLang="ko-KR" sz="1500" b="1">
                <a:solidFill>
                  <a:srgbClr val="0E8C6B"/>
                </a:solidFill>
                <a:latin typeface="Malgun Gothic" panose="020B0503020000020004" pitchFamily="50" charset="-127"/>
              </a:rPr>
              <a:t>.</a:t>
            </a:r>
            <a:endParaRPr lang="ko-KR" altLang="en-US" sz="1500" b="1">
              <a:solidFill>
                <a:srgbClr val="0E8C6B"/>
              </a:solidFill>
              <a:latin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36DD7B-1272-4ED6-8DB2-14BE5138A231}"/>
              </a:ext>
            </a:extLst>
          </p:cNvPr>
          <p:cNvSpPr txBox="1"/>
          <p:nvPr/>
        </p:nvSpPr>
        <p:spPr>
          <a:xfrm>
            <a:off x="11328400" y="6451600"/>
            <a:ext cx="711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n-US" altLang="ko-KR" sz="1100">
                <a:solidFill>
                  <a:srgbClr val="5A6470"/>
                </a:solidFill>
                <a:latin typeface="Malgun Gothic" panose="020B0503020000020004" pitchFamily="50" charset="-127"/>
              </a:rPr>
              <a:t>10 / 11</a:t>
            </a:r>
            <a:endParaRPr lang="ko-KR" altLang="en-US" sz="1100">
              <a:solidFill>
                <a:srgbClr val="5A6470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39519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3EA6D879-E1E8-47CB-A205-11E1A3C8D22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B254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25374F-599E-4280-88E1-132B6AF7434B}"/>
              </a:ext>
            </a:extLst>
          </p:cNvPr>
          <p:cNvSpPr txBox="1"/>
          <p:nvPr/>
        </p:nvSpPr>
        <p:spPr>
          <a:xfrm>
            <a:off x="1016000" y="24130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우리를 설명하는 것을 그만두고</a:t>
            </a:r>
            <a:r>
              <a:rPr lang="en-US" altLang="ko-KR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,</a:t>
            </a:r>
            <a:endParaRPr lang="ko-KR" altLang="en-US" sz="3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8092C4-C8D2-4B25-A6AD-8FDE8AFF4406}"/>
              </a:ext>
            </a:extLst>
          </p:cNvPr>
          <p:cNvSpPr txBox="1"/>
          <p:nvPr/>
        </p:nvSpPr>
        <p:spPr>
          <a:xfrm>
            <a:off x="1016000" y="32512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번호를 건네기 시작합니다</a:t>
            </a:r>
            <a:r>
              <a:rPr lang="en-US" altLang="ko-KR" sz="3400" b="1">
                <a:solidFill>
                  <a:srgbClr val="FFFFFF"/>
                </a:solidFill>
                <a:latin typeface="Malgun Gothic" panose="020B0503020000020004" pitchFamily="50" charset="-127"/>
              </a:rPr>
              <a:t>.</a:t>
            </a:r>
            <a:endParaRPr lang="ko-KR" altLang="en-US" sz="3400" b="1">
              <a:solidFill>
                <a:srgbClr val="FFFFFF"/>
              </a:solidFill>
              <a:latin typeface="Malgun Gothic" panose="020B0503020000020004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D65B41-5013-4332-A59D-FEC7DE8BCD8B}"/>
              </a:ext>
            </a:extLst>
          </p:cNvPr>
          <p:cNvSpPr/>
          <p:nvPr/>
        </p:nvSpPr>
        <p:spPr>
          <a:xfrm>
            <a:off x="1066800" y="2260600"/>
            <a:ext cx="762000" cy="76200"/>
          </a:xfrm>
          <a:prstGeom prst="rect">
            <a:avLst/>
          </a:prstGeom>
          <a:solidFill>
            <a:srgbClr val="0E8C6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5E5B45-725E-44D9-96D4-1207E8ED117B}"/>
              </a:ext>
            </a:extLst>
          </p:cNvPr>
          <p:cNvSpPr txBox="1"/>
          <p:nvPr/>
        </p:nvSpPr>
        <p:spPr>
          <a:xfrm>
            <a:off x="1016000" y="4394200"/>
            <a:ext cx="10160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ko-KR" altLang="en-US" sz="1700">
                <a:solidFill>
                  <a:srgbClr val="96C8B9"/>
                </a:solidFill>
                <a:latin typeface="Malgun Gothic" panose="020B0503020000020004" pitchFamily="50" charset="-127"/>
              </a:rPr>
              <a:t>요청 </a:t>
            </a:r>
            <a:r>
              <a:rPr lang="en-US" altLang="ko-KR" sz="1700">
                <a:solidFill>
                  <a:srgbClr val="96C8B9"/>
                </a:solidFill>
                <a:latin typeface="Malgun Gothic" panose="020B0503020000020004" pitchFamily="50" charset="-127"/>
              </a:rPr>
              <a:t>1</a:t>
            </a:r>
            <a:r>
              <a:rPr lang="ko-KR" altLang="en-US" sz="1700">
                <a:solidFill>
                  <a:srgbClr val="96C8B9"/>
                </a:solidFill>
                <a:latin typeface="Malgun Gothic" panose="020B0503020000020004" pitchFamily="50" charset="-127"/>
              </a:rPr>
              <a:t>은 오늘</a:t>
            </a:r>
            <a:r>
              <a:rPr lang="en-US" altLang="ko-KR" sz="1700">
                <a:solidFill>
                  <a:srgbClr val="96C8B9"/>
                </a:solidFill>
                <a:latin typeface="Malgun Gothic" panose="020B0503020000020004" pitchFamily="50" charset="-127"/>
              </a:rPr>
              <a:t>, </a:t>
            </a:r>
            <a:r>
              <a:rPr lang="ko-KR" altLang="en-US" sz="1700">
                <a:solidFill>
                  <a:srgbClr val="96C8B9"/>
                </a:solidFill>
                <a:latin typeface="Malgun Gothic" panose="020B0503020000020004" pitchFamily="50" charset="-127"/>
              </a:rPr>
              <a:t>비용 없이 착수 가능합니다</a:t>
            </a:r>
            <a:r>
              <a:rPr lang="en-US" altLang="ko-KR" sz="1700">
                <a:solidFill>
                  <a:srgbClr val="96C8B9"/>
                </a:solidFill>
                <a:latin typeface="Malgun Gothic" panose="020B0503020000020004" pitchFamily="50" charset="-127"/>
              </a:rPr>
              <a:t>.</a:t>
            </a:r>
            <a:endParaRPr lang="ko-KR" altLang="en-US" sz="1700">
              <a:solidFill>
                <a:srgbClr val="96C8B9"/>
              </a:solidFill>
              <a:latin typeface="Malgun Gothic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43826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688</Words>
  <Application>Microsoft Office PowerPoint</Application>
  <PresentationFormat>사용자 지정</PresentationFormat>
  <Paragraphs>99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5" baseType="lpstr">
      <vt:lpstr>맑은 고딕</vt:lpstr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소정 박</dc:creator>
  <cp:lastModifiedBy>소정 박</cp:lastModifiedBy>
  <cp:revision>1</cp:revision>
  <dcterms:created xsi:type="dcterms:W3CDTF">2026-07-23T00:16:47Z</dcterms:created>
  <dcterms:modified xsi:type="dcterms:W3CDTF">2026-07-23T00:16:47Z</dcterms:modified>
</cp:coreProperties>
</file>