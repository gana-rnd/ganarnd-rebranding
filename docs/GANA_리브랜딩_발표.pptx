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1A1DC-AD4D-4B9F-BC6F-3FE3F65CDE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2193D8-8E86-4EA2-A27F-E1D4E34DE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FE09C3-FFFB-4010-8612-2FE9BC1D4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6966-4CF7-40C3-BD46-DFF3771F9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0F227C-7AD3-4362-BA48-E2093F98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15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71F85-A875-4A2D-A6EA-2C8DFBACE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AE217-A86D-4EB9-966A-1185A9700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14CAFC-ED33-4086-A446-2D38659B4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0FFAA-AE44-4A98-B5F8-CEE8C125B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746886-58E3-4C37-A46E-FE0EAFC1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89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321E5-42FC-464B-8F78-4D68E686B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4FCACF-0F48-4DD0-969A-9E810D579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5AED94-D5FE-47F1-8A40-1F890B2E6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2BF3BC-BA71-4D4D-9795-A5268C7E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DE272-7230-42A4-8FFE-3D8910DC5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648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B7687-8F92-4ECF-8856-450F21EC0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B50AA6-4A4E-44A2-AAEE-F5E75A1B3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3860D4-6680-4E7F-8F0A-845D129DA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B97E3B-D421-440D-BA63-DE8DCD503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D0113F-EC9B-4F46-9583-4416F0DB7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C45433-051F-4A0E-9753-4BAC91F8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264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8D3612-DB1C-4987-A275-3CC5EBD29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42DD74-363C-4D9E-A42F-99FB9B235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41B42B-89B4-4FA0-B7AC-BE62DDD6D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CB71B1-A091-43DA-8BB0-AB19F0FD8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90BAAF-0FFA-46A3-8F52-31C38EC7A5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4CECDC8-5C7B-4B37-B298-928DFC11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CDD3EC-4E0F-4E9F-B065-1C4945177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0375BC-611C-49D7-96B5-3B62FFCE2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81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4ACA53-7EFE-4128-AA6E-90E1DD7B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EA82882-0C19-4125-B010-DF3BA1A8A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0BA368-4502-452B-B6B3-B686063B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A7837B-2E26-4302-9D85-C11994235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418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A32EF2-A9AF-47D3-A9D8-A93ACE78E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6302C-842B-4237-93F8-6285696B5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6B10F5-5607-44AF-BC8A-E7F1C022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2709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3EFE58-FE41-4B8E-84F2-086232E68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E56E3-CA54-4FA7-B5D3-ADE478D9A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7922CF-F717-4496-91F3-8FA6D79B6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34B519-2FB2-4FC9-B2BB-79DD1C1F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45F27B-03A3-4DDF-A49F-37DE5AC8C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905325-F906-4614-BBA5-3A8EF5777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453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8E0A4-CAA0-447A-B804-C5D85965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40A411-24EB-4C8F-8598-499F9A477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63DAD4-2A60-47F1-8359-308967393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5E3ADA-C716-4E45-9734-2738B53BA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4ED6A7-C446-4496-8CFF-760D01AA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511EC-D2D1-4445-8B42-412924B3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891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6BF988-844F-46A9-8548-C9DD3D1C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B8B5D6-5DC3-48AC-B4ED-FB7E65816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B9B4AB-ECB8-4DE6-95EB-339007CDF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6BBB2-D86B-4203-A1A1-C36A8F1D5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178D9F-DECA-4DCB-A538-C0ACEEEC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87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C02B93-134D-490E-B133-6C73CC290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7468AA-DB9C-4240-96D3-4363634FA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12554-E8F1-4683-9A9E-3DE219C2E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06634-C559-4E33-A038-8128F43CF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8FC6C6-B9A9-4E5F-A642-31AB34AF9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4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F7F25C-FA38-40FF-AA66-2A7A514D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3570EC-997A-40C9-9898-25C7AC95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A1821-E9AA-4987-AABA-E7922A454F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98EE9-C007-4691-95E7-8D57B7DDF3F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46EFE-5454-4629-AC3F-6F1A01464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395480-FBAE-4879-889D-3E07BA0DE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CAADB-A7AD-4F70-97C9-E7806A4828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04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0A5D098-4135-47AB-95ED-421DB543E61B}"/>
              </a:ext>
            </a:extLst>
          </p:cNvPr>
          <p:cNvSpPr/>
          <p:nvPr/>
        </p:nvSpPr>
        <p:spPr>
          <a:xfrm>
            <a:off x="1016000" y="3175000"/>
            <a:ext cx="3810000" cy="381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E69EF-70E4-469D-BC29-B2940707A855}"/>
              </a:ext>
            </a:extLst>
          </p:cNvPr>
          <p:cNvSpPr txBox="1"/>
          <p:nvPr/>
        </p:nvSpPr>
        <p:spPr>
          <a:xfrm>
            <a:off x="1016000" y="1651000"/>
            <a:ext cx="10160000" cy="712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GANA </a:t>
            </a: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그룹 리브랜딩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157B1-1049-41C6-BE05-76EF10446723}"/>
              </a:ext>
            </a:extLst>
          </p:cNvPr>
          <p:cNvSpPr txBox="1"/>
          <p:nvPr/>
        </p:nvSpPr>
        <p:spPr>
          <a:xfrm>
            <a:off x="1016000" y="3530600"/>
            <a:ext cx="10160000" cy="4272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400">
                <a:solidFill>
                  <a:srgbClr val="666666"/>
                </a:solidFill>
                <a:latin typeface="Malgun Gothic" panose="020B0503020000020004" pitchFamily="50" charset="-127"/>
              </a:rPr>
              <a:t>브랜드 축 전환 제안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D36FE-C590-4EF7-9455-6557A4BA0BA6}"/>
              </a:ext>
            </a:extLst>
          </p:cNvPr>
          <p:cNvSpPr txBox="1"/>
          <p:nvPr/>
        </p:nvSpPr>
        <p:spPr>
          <a:xfrm>
            <a:off x="1016000" y="5461000"/>
            <a:ext cx="10160000" cy="52931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>
                <a:solidFill>
                  <a:srgbClr val="666666"/>
                </a:solidFill>
                <a:latin typeface="Malgun Gothic" panose="020B0503020000020004" pitchFamily="50" charset="-127"/>
              </a:rPr>
              <a:t>2026. 7. 23.</a:t>
            </a:r>
            <a:br>
              <a:rPr lang="en-US" altLang="ko-KR" sz="1400">
                <a:solidFill>
                  <a:srgbClr val="666666"/>
                </a:solidFill>
                <a:latin typeface="Malgun Gothic" panose="020B0503020000020004" pitchFamily="50" charset="-127"/>
              </a:rPr>
            </a:br>
            <a:r>
              <a:rPr lang="ko-KR" altLang="en-US" sz="1400">
                <a:solidFill>
                  <a:srgbClr val="666666"/>
                </a:solidFill>
                <a:latin typeface="Malgun Gothic" panose="020B0503020000020004" pitchFamily="50" charset="-127"/>
              </a:rPr>
              <a:t>내부 검토용</a:t>
            </a:r>
          </a:p>
        </p:txBody>
      </p:sp>
    </p:spTree>
    <p:extLst>
      <p:ext uri="{BB962C8B-B14F-4D97-AF65-F5344CB8AC3E}">
        <p14:creationId xmlns:p14="http://schemas.microsoft.com/office/powerpoint/2010/main" val="2055503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331B8A-4422-4EA0-852C-B5C3B1E1F4A8}"/>
              </a:ext>
            </a:extLst>
          </p:cNvPr>
          <p:cNvSpPr txBox="1"/>
          <p:nvPr/>
        </p:nvSpPr>
        <p:spPr>
          <a:xfrm>
            <a:off x="1016000" y="762000"/>
            <a:ext cx="10160000" cy="3204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800">
                <a:solidFill>
                  <a:srgbClr val="666666"/>
                </a:solidFill>
                <a:latin typeface="Malgun Gothic" panose="020B0503020000020004" pitchFamily="50" charset="-127"/>
              </a:rPr>
              <a:t>먼저 말씀드립니다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E4C61E-7EAC-42E7-9397-A1C884634270}"/>
              </a:ext>
            </a:extLst>
          </p:cNvPr>
          <p:cNvSpPr txBox="1"/>
          <p:nvPr/>
        </p:nvSpPr>
        <p:spPr>
          <a:xfrm>
            <a:off x="1016000" y="1333500"/>
            <a:ext cx="10414000" cy="712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4000" b="1">
                <a:solidFill>
                  <a:srgbClr val="000000"/>
                </a:solidFill>
                <a:latin typeface="Malgun Gothic" panose="020B0503020000020004" pitchFamily="50" charset="-127"/>
              </a:rPr>
              <a:t>아무것도 버리지 않습니다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04F3A4-EAAF-41E9-A5C6-F8816C4BB32F}"/>
              </a:ext>
            </a:extLst>
          </p:cNvPr>
          <p:cNvSpPr/>
          <p:nvPr/>
        </p:nvSpPr>
        <p:spPr>
          <a:xfrm>
            <a:off x="1016000" y="2540000"/>
            <a:ext cx="10160000" cy="1905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C2A3B-3877-44EC-8633-FE258926072E}"/>
              </a:ext>
            </a:extLst>
          </p:cNvPr>
          <p:cNvSpPr txBox="1"/>
          <p:nvPr/>
        </p:nvSpPr>
        <p:spPr>
          <a:xfrm>
            <a:off x="1016000" y="3111500"/>
            <a:ext cx="10414000" cy="15031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  <a:t>세계 최대급 설비  </a:t>
            </a:r>
            <a:r>
              <a:rPr lang="en-US" altLang="ko-KR" sz="2600">
                <a:solidFill>
                  <a:srgbClr val="000000"/>
                </a:solidFill>
                <a:latin typeface="Malgun Gothic" panose="020B0503020000020004" pitchFamily="50" charset="-127"/>
              </a:rPr>
              <a:t>—  </a:t>
            </a:r>
            <a: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  <a:t>그대로</a:t>
            </a:r>
            <a:b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2600">
                <a:solidFill>
                  <a:srgbClr val="000000"/>
                </a:solidFill>
                <a:latin typeface="Malgun Gothic" panose="020B0503020000020004" pitchFamily="50" charset="-127"/>
              </a:rPr>
              <a:t>6 </a:t>
            </a:r>
            <a: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  <a:t>개 계열사  </a:t>
            </a:r>
            <a:r>
              <a:rPr lang="en-US" altLang="ko-KR" sz="2600">
                <a:solidFill>
                  <a:srgbClr val="000000"/>
                </a:solidFill>
                <a:latin typeface="Malgun Gothic" panose="020B0503020000020004" pitchFamily="50" charset="-127"/>
              </a:rPr>
              <a:t>—  </a:t>
            </a:r>
            <a: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  <a:t>그대로</a:t>
            </a:r>
            <a:b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  <a:t>안티에이징  </a:t>
            </a:r>
            <a:r>
              <a:rPr lang="en-US" altLang="ko-KR" sz="2600">
                <a:solidFill>
                  <a:srgbClr val="000000"/>
                </a:solidFill>
                <a:latin typeface="Malgun Gothic" panose="020B0503020000020004" pitchFamily="50" charset="-127"/>
              </a:rPr>
              <a:t>—  </a:t>
            </a:r>
            <a:r>
              <a:rPr lang="ko-KR" altLang="en-US" sz="2600">
                <a:solidFill>
                  <a:srgbClr val="000000"/>
                </a:solidFill>
                <a:latin typeface="Malgun Gothic" panose="020B0503020000020004" pitchFamily="50" charset="-127"/>
              </a:rPr>
              <a:t>그대로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AD1B4-6FF2-4DED-97BC-ABD503A054A0}"/>
              </a:ext>
            </a:extLst>
          </p:cNvPr>
          <p:cNvSpPr txBox="1"/>
          <p:nvPr/>
        </p:nvSpPr>
        <p:spPr>
          <a:xfrm>
            <a:off x="1016000" y="5397500"/>
            <a:ext cx="10414000" cy="4628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바꾸는 것은 말하는 방식 하나입니다</a:t>
            </a:r>
            <a:r>
              <a:rPr lang="en-US" altLang="ko-KR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6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116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B37095-E63A-4C0A-B563-616C70B226C6}"/>
              </a:ext>
            </a:extLst>
          </p:cNvPr>
          <p:cNvSpPr txBox="1"/>
          <p:nvPr/>
        </p:nvSpPr>
        <p:spPr>
          <a:xfrm>
            <a:off x="1016000" y="698500"/>
            <a:ext cx="10160000" cy="3204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800">
                <a:solidFill>
                  <a:srgbClr val="666666"/>
                </a:solidFill>
                <a:latin typeface="Malgun Gothic" panose="020B0503020000020004" pitchFamily="50" charset="-127"/>
              </a:rPr>
              <a:t>지금 우리가 하는 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C7E824-A954-4A1F-8061-9746DEDD1D10}"/>
              </a:ext>
            </a:extLst>
          </p:cNvPr>
          <p:cNvSpPr/>
          <p:nvPr/>
        </p:nvSpPr>
        <p:spPr>
          <a:xfrm>
            <a:off x="1016000" y="1270000"/>
            <a:ext cx="10160000" cy="1905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61238-D3A0-4EE9-BDDF-9BF63E792043}"/>
              </a:ext>
            </a:extLst>
          </p:cNvPr>
          <p:cNvSpPr txBox="1"/>
          <p:nvPr/>
        </p:nvSpPr>
        <p:spPr>
          <a:xfrm>
            <a:off x="1016000" y="1676400"/>
            <a:ext cx="10414000" cy="10207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2700" b="1">
                <a:solidFill>
                  <a:srgbClr val="000000"/>
                </a:solidFill>
                <a:latin typeface="Malgun Gothic" panose="020B0503020000020004" pitchFamily="50" charset="-127"/>
              </a:rPr>
              <a:t>6 </a:t>
            </a:r>
            <a:r>
              <a:rPr lang="ko-KR" altLang="en-US" sz="2700" b="1">
                <a:solidFill>
                  <a:srgbClr val="000000"/>
                </a:solidFill>
                <a:latin typeface="Malgun Gothic" panose="020B0503020000020004" pitchFamily="50" charset="-127"/>
              </a:rPr>
              <a:t>개 계열사가 안티에이징이라는</a:t>
            </a:r>
            <a:br>
              <a:rPr lang="ko-KR" altLang="en-US" sz="27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700" b="1">
                <a:solidFill>
                  <a:srgbClr val="000000"/>
                </a:solidFill>
                <a:latin typeface="Malgun Gothic" panose="020B0503020000020004" pitchFamily="50" charset="-127"/>
              </a:rPr>
              <a:t>공통 목적으로 유전자 단위까지 움직인다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86B4C-E200-487B-9FCE-18F8DC607A3B}"/>
              </a:ext>
            </a:extLst>
          </p:cNvPr>
          <p:cNvSpPr txBox="1"/>
          <p:nvPr/>
        </p:nvSpPr>
        <p:spPr>
          <a:xfrm>
            <a:off x="1016000" y="3492500"/>
            <a:ext cx="10414000" cy="8317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  <a:t>화장품 회사도</a:t>
            </a:r>
            <a:r>
              <a:rPr lang="en-US" altLang="ko-KR" sz="2200">
                <a:solidFill>
                  <a:srgbClr val="00000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  <a:t>필러 회사도</a:t>
            </a:r>
            <a:r>
              <a:rPr lang="en-US" altLang="ko-KR" sz="2200">
                <a:solidFill>
                  <a:srgbClr val="00000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  <a:t>건강기능식품 회사도</a:t>
            </a:r>
            <a:b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  <a:t>전부 같은 말을 합니다</a:t>
            </a:r>
            <a:r>
              <a:rPr lang="en-US" altLang="ko-KR" sz="2200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2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B173B7D-55C9-41CA-A099-3793A77FC372}"/>
              </a:ext>
            </a:extLst>
          </p:cNvPr>
          <p:cNvSpPr/>
          <p:nvPr/>
        </p:nvSpPr>
        <p:spPr>
          <a:xfrm>
            <a:off x="1016000" y="4889500"/>
            <a:ext cx="10160000" cy="12700"/>
          </a:xfrm>
          <a:prstGeom prst="rect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4AD19-B0D1-4E91-AF9B-927FCCCFEA47}"/>
              </a:ext>
            </a:extLst>
          </p:cNvPr>
          <p:cNvSpPr txBox="1"/>
          <p:nvPr/>
        </p:nvSpPr>
        <p:spPr>
          <a:xfrm>
            <a:off x="1016000" y="5232400"/>
            <a:ext cx="10414000" cy="10207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700" b="1">
                <a:solidFill>
                  <a:srgbClr val="2D2D2D"/>
                </a:solidFill>
                <a:latin typeface="Malgun Gothic" panose="020B0503020000020004" pitchFamily="50" charset="-127"/>
              </a:rPr>
              <a:t>그리고 반드시 이 질문이 옵니다</a:t>
            </a:r>
            <a:r>
              <a:rPr lang="en-US" altLang="ko-KR" sz="2700" b="1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  <a:br>
              <a:rPr lang="en-US" altLang="ko-KR" sz="2700" b="1">
                <a:solidFill>
                  <a:srgbClr val="2D2D2D"/>
                </a:solidFill>
                <a:latin typeface="Malgun Gothic" panose="020B0503020000020004" pitchFamily="50" charset="-127"/>
              </a:rPr>
            </a:br>
            <a:r>
              <a:rPr lang="en-US" altLang="ko-KR" sz="2700" b="1">
                <a:solidFill>
                  <a:srgbClr val="2D2D2D"/>
                </a:solidFill>
                <a:latin typeface="Malgun Gothic" panose="020B0503020000020004" pitchFamily="50" charset="-127"/>
              </a:rPr>
              <a:t>“</a:t>
            </a:r>
            <a:r>
              <a:rPr lang="ko-KR" altLang="en-US" sz="2700" b="1">
                <a:solidFill>
                  <a:srgbClr val="2D2D2D"/>
                </a:solidFill>
                <a:latin typeface="Malgun Gothic" panose="020B0503020000020004" pitchFamily="50" charset="-127"/>
              </a:rPr>
              <a:t>그걸 어떻게 증명하십니까</a:t>
            </a:r>
            <a:r>
              <a:rPr lang="en-US" altLang="ko-KR" sz="2700" b="1">
                <a:solidFill>
                  <a:srgbClr val="2D2D2D"/>
                </a:solidFill>
                <a:latin typeface="Malgun Gothic" panose="020B0503020000020004" pitchFamily="50" charset="-127"/>
              </a:rPr>
              <a:t>?”</a:t>
            </a:r>
            <a:endParaRPr lang="ko-KR" altLang="en-US" sz="2700" b="1">
              <a:solidFill>
                <a:srgbClr val="2D2D2D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8775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77DFDC-CBC9-4059-9A66-E8ABB09BF04B}"/>
              </a:ext>
            </a:extLst>
          </p:cNvPr>
          <p:cNvSpPr txBox="1"/>
          <p:nvPr/>
        </p:nvSpPr>
        <p:spPr>
          <a:xfrm>
            <a:off x="1016000" y="698500"/>
            <a:ext cx="10160000" cy="32040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800">
                <a:solidFill>
                  <a:srgbClr val="666666"/>
                </a:solidFill>
                <a:latin typeface="Malgun Gothic" panose="020B0503020000020004" pitchFamily="50" charset="-127"/>
              </a:rPr>
              <a:t>제안 </a:t>
            </a:r>
            <a:r>
              <a:rPr lang="en-US" altLang="ko-KR" sz="1800">
                <a:solidFill>
                  <a:srgbClr val="666666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800">
                <a:solidFill>
                  <a:srgbClr val="666666"/>
                </a:solidFill>
                <a:latin typeface="Malgun Gothic" panose="020B0503020000020004" pitchFamily="50" charset="-127"/>
              </a:rPr>
              <a:t>주어를 바꿉니다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09E556A-A0F1-4460-A52A-BB55F5F00D0C}"/>
              </a:ext>
            </a:extLst>
          </p:cNvPr>
          <p:cNvSpPr/>
          <p:nvPr/>
        </p:nvSpPr>
        <p:spPr>
          <a:xfrm>
            <a:off x="1016000" y="1270000"/>
            <a:ext cx="10160000" cy="1905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E53D2-074F-46BD-9CE8-9FFDC56E4111}"/>
              </a:ext>
            </a:extLst>
          </p:cNvPr>
          <p:cNvSpPr txBox="1"/>
          <p:nvPr/>
        </p:nvSpPr>
        <p:spPr>
          <a:xfrm>
            <a:off x="1016000" y="1879600"/>
            <a:ext cx="10414000" cy="6052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노화     →     만든다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B17FE7-36C4-4EA0-9042-98CBB9FD4B89}"/>
              </a:ext>
            </a:extLst>
          </p:cNvPr>
          <p:cNvSpPr txBox="1"/>
          <p:nvPr/>
        </p:nvSpPr>
        <p:spPr>
          <a:xfrm>
            <a:off x="1016000" y="3048000"/>
            <a:ext cx="10414000" cy="120981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200" b="1">
                <a:solidFill>
                  <a:srgbClr val="000000"/>
                </a:solidFill>
                <a:latin typeface="Malgun Gothic" panose="020B0503020000020004" pitchFamily="50" charset="-127"/>
              </a:rPr>
              <a:t>“표면부터 세포까지</a:t>
            </a:r>
            <a:r>
              <a:rPr lang="en-US" altLang="ko-KR" sz="3200" b="1">
                <a:solidFill>
                  <a:srgbClr val="000000"/>
                </a:solidFill>
                <a:latin typeface="Malgun Gothic" panose="020B0503020000020004" pitchFamily="50" charset="-127"/>
              </a:rPr>
              <a:t>,</a:t>
            </a:r>
            <a:br>
              <a:rPr lang="en-US" altLang="ko-KR" sz="32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3200" b="1">
                <a:solidFill>
                  <a:srgbClr val="000000"/>
                </a:solidFill>
                <a:latin typeface="Malgun Gothic" panose="020B0503020000020004" pitchFamily="50" charset="-127"/>
              </a:rPr>
              <a:t>재생을 직접 만듭니다”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ACF9EC-6045-414A-9D2F-0B473EB570C9}"/>
              </a:ext>
            </a:extLst>
          </p:cNvPr>
          <p:cNvSpPr/>
          <p:nvPr/>
        </p:nvSpPr>
        <p:spPr>
          <a:xfrm>
            <a:off x="1016000" y="4826000"/>
            <a:ext cx="10160000" cy="12700"/>
          </a:xfrm>
          <a:prstGeom prst="rect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B95CF8-2D42-474A-B779-C3989DEDEEEF}"/>
              </a:ext>
            </a:extLst>
          </p:cNvPr>
          <p:cNvSpPr txBox="1"/>
          <p:nvPr/>
        </p:nvSpPr>
        <p:spPr>
          <a:xfrm>
            <a:off x="1016000" y="5168900"/>
            <a:ext cx="10414000" cy="83170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  <a:t>증명해야 할 약속   →   보여주면 되는 사실</a:t>
            </a:r>
            <a:b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200">
                <a:solidFill>
                  <a:srgbClr val="000000"/>
                </a:solidFill>
                <a:latin typeface="Malgun Gothic" panose="020B0503020000020004" pitchFamily="50" charset="-127"/>
              </a:rPr>
              <a:t>되물음이 나올 자리가 사라집니다</a:t>
            </a:r>
            <a:r>
              <a:rPr lang="en-US" altLang="ko-KR" sz="2200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2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845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7FA920-B356-4508-97A6-EDBC50BB3866}"/>
              </a:ext>
            </a:extLst>
          </p:cNvPr>
          <p:cNvSpPr txBox="1"/>
          <p:nvPr/>
        </p:nvSpPr>
        <p:spPr>
          <a:xfrm>
            <a:off x="1016000" y="609600"/>
            <a:ext cx="10160000" cy="4449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안티에이징은 없어지지 않습니다</a:t>
            </a:r>
            <a:r>
              <a:rPr lang="en-US" altLang="ko-KR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자리를 옮깁니다</a:t>
            </a:r>
            <a:r>
              <a:rPr lang="en-US" altLang="ko-KR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5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2F69A8-93D4-496F-B724-7EAAAD1E4C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460500"/>
            <a:ext cx="8636000" cy="3086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DB9FBA-016E-4A37-BD6D-5AC7B4DFBE0E}"/>
              </a:ext>
            </a:extLst>
          </p:cNvPr>
          <p:cNvSpPr txBox="1"/>
          <p:nvPr/>
        </p:nvSpPr>
        <p:spPr>
          <a:xfrm>
            <a:off x="1016000" y="5080000"/>
            <a:ext cx="10414000" cy="7561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>
                <a:solidFill>
                  <a:srgbClr val="666666"/>
                </a:solidFill>
                <a:latin typeface="Malgun Gothic" panose="020B0503020000020004" pitchFamily="50" charset="-127"/>
              </a:rPr>
              <a:t>목적은 안에서 조직을 움직이고</a:t>
            </a:r>
            <a:r>
              <a:rPr lang="en-US" altLang="ko-KR" sz="2000">
                <a:solidFill>
                  <a:srgbClr val="666666"/>
                </a:solidFill>
                <a:latin typeface="Malgun Gothic" panose="020B0503020000020004" pitchFamily="50" charset="-127"/>
              </a:rPr>
              <a:t>,</a:t>
            </a:r>
            <a:br>
              <a:rPr lang="en-US" altLang="ko-KR" sz="2000">
                <a:solidFill>
                  <a:srgbClr val="666666"/>
                </a:solidFill>
                <a:latin typeface="Malgun Gothic" panose="020B0503020000020004" pitchFamily="50" charset="-127"/>
              </a:rPr>
            </a:br>
            <a:r>
              <a:rPr lang="ko-KR" altLang="en-US" sz="2000">
                <a:solidFill>
                  <a:srgbClr val="666666"/>
                </a:solidFill>
                <a:latin typeface="Malgun Gothic" panose="020B0503020000020004" pitchFamily="50" charset="-127"/>
              </a:rPr>
              <a:t>밖에서는 만든 것으로 증명합니다</a:t>
            </a:r>
            <a:r>
              <a:rPr lang="en-US" altLang="ko-KR" sz="2000">
                <a:solidFill>
                  <a:srgbClr val="666666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66666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09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6D0473-4D1C-4FFB-B9BD-72BD4F6152BF}"/>
              </a:ext>
            </a:extLst>
          </p:cNvPr>
          <p:cNvSpPr txBox="1"/>
          <p:nvPr/>
        </p:nvSpPr>
        <p:spPr>
          <a:xfrm>
            <a:off x="1016000" y="533400"/>
            <a:ext cx="10160000" cy="4094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300" b="1">
                <a:solidFill>
                  <a:srgbClr val="000000"/>
                </a:solidFill>
                <a:latin typeface="Malgun Gothic" panose="020B0503020000020004" pitchFamily="50" charset="-127"/>
              </a:rPr>
              <a:t>같은 여섯 개라도 배치가 다르면 다르게 읽힙니다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82FA8D-DA1E-4F7A-8175-3147CD96C3F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206500"/>
            <a:ext cx="8636000" cy="2616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B36DD9-96D2-4597-980F-79A538F57221}"/>
              </a:ext>
            </a:extLst>
          </p:cNvPr>
          <p:cNvSpPr txBox="1"/>
          <p:nvPr/>
        </p:nvSpPr>
        <p:spPr>
          <a:xfrm>
            <a:off x="1016000" y="4191000"/>
            <a:ext cx="10414000" cy="10207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700" b="1">
                <a:solidFill>
                  <a:srgbClr val="000000"/>
                </a:solidFill>
                <a:latin typeface="Malgun Gothic" panose="020B0503020000020004" pitchFamily="50" charset="-127"/>
              </a:rPr>
              <a:t>“우리가 다 해줄 수 있어”</a:t>
            </a:r>
            <a:br>
              <a:rPr lang="ko-KR" altLang="en-US" sz="27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700" b="1">
                <a:solidFill>
                  <a:srgbClr val="000000"/>
                </a:solidFill>
                <a:latin typeface="Malgun Gothic" panose="020B0503020000020004" pitchFamily="50" charset="-127"/>
              </a:rPr>
              <a:t>“우리는 이렇게 만들었어”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D3ABD0-28F6-4D57-8F08-FE23636B6DC7}"/>
              </a:ext>
            </a:extLst>
          </p:cNvPr>
          <p:cNvSpPr txBox="1"/>
          <p:nvPr/>
        </p:nvSpPr>
        <p:spPr>
          <a:xfrm>
            <a:off x="1016000" y="5816600"/>
            <a:ext cx="10414000" cy="3381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900">
                <a:solidFill>
                  <a:srgbClr val="666666"/>
                </a:solidFill>
                <a:latin typeface="Malgun Gothic" panose="020B0503020000020004" pitchFamily="50" charset="-127"/>
              </a:rPr>
              <a:t>앞은 의심을 부르고</a:t>
            </a:r>
            <a:r>
              <a:rPr lang="en-US" altLang="ko-KR" sz="1900">
                <a:solidFill>
                  <a:srgbClr val="66666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666666"/>
                </a:solidFill>
                <a:latin typeface="Malgun Gothic" panose="020B0503020000020004" pitchFamily="50" charset="-127"/>
              </a:rPr>
              <a:t>뒤는 과정을 상상하게 합니다</a:t>
            </a:r>
            <a:r>
              <a:rPr lang="en-US" altLang="ko-KR" sz="1900">
                <a:solidFill>
                  <a:srgbClr val="666666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>
              <a:solidFill>
                <a:srgbClr val="66666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3240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496672-B797-461E-8A78-810282EB10B1}"/>
              </a:ext>
            </a:extLst>
          </p:cNvPr>
          <p:cNvSpPr txBox="1"/>
          <p:nvPr/>
        </p:nvSpPr>
        <p:spPr>
          <a:xfrm>
            <a:off x="1016000" y="533400"/>
            <a:ext cx="10160000" cy="355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>
                <a:solidFill>
                  <a:srgbClr val="666666"/>
                </a:solidFill>
                <a:latin typeface="Malgun Gothic" panose="020B0503020000020004" pitchFamily="50" charset="-127"/>
              </a:rPr>
              <a:t>그리고 이건 믿어달라는 말씀이 아닙니다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C0243-6C63-4504-A6D0-5CB36BF8975A}"/>
              </a:ext>
            </a:extLst>
          </p:cNvPr>
          <p:cNvSpPr txBox="1"/>
          <p:nvPr/>
        </p:nvSpPr>
        <p:spPr>
          <a:xfrm>
            <a:off x="1016000" y="990600"/>
            <a:ext cx="10922000" cy="6052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러시아 보건당국에 우리 이름으로 </a:t>
            </a:r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8 </a:t>
            </a:r>
            <a:r>
              <a:rPr lang="ko-KR" altLang="en-US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건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ADADE8B-39F8-40D6-A816-DBF419FC0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774902"/>
              </p:ext>
            </p:extLst>
          </p:nvPr>
        </p:nvGraphicFramePr>
        <p:xfrm>
          <a:off x="1016000" y="1879600"/>
          <a:ext cx="101600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6667">
                  <a:extLst>
                    <a:ext uri="{9D8B030D-6E8A-4147-A177-3AD203B41FA5}">
                      <a16:colId xmlns:a16="http://schemas.microsoft.com/office/drawing/2014/main" val="211153901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18835215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1155299288"/>
                    </a:ext>
                  </a:extLst>
                </a:gridCol>
              </a:tblGrid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등록번호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품목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성분 계열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05689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0">
                          <a:solidFill>
                            <a:srgbClr val="000000"/>
                          </a:solidFill>
                        </a:rPr>
                        <a:t>РЗН 2021/14277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HA (A/B/C)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히알루론산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359035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0">
                          <a:solidFill>
                            <a:srgbClr val="000000"/>
                          </a:solidFill>
                        </a:rPr>
                        <a:t>РЗН 2021/13973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X / V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PLLA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811653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0">
                          <a:solidFill>
                            <a:srgbClr val="000000"/>
                          </a:solidFill>
                        </a:rPr>
                        <a:t>РЗН 2022/18121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HA Body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히알루론산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096751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1">
                          <a:solidFill>
                            <a:srgbClr val="000000"/>
                          </a:solidFill>
                        </a:rPr>
                        <a:t>РЗН 2024/22431</a:t>
                      </a:r>
                      <a:endParaRPr lang="ko-KR" altLang="en-US" sz="1300" b="1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PATCH  (</a:t>
                      </a:r>
                      <a:r>
                        <a:rPr lang="ko-KR" altLang="en-US" sz="1300" b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창상피복재</a:t>
                      </a:r>
                      <a:r>
                        <a:rPr lang="en-US" altLang="ko-KR" sz="1300" b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300" b="1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바이오셀룰로스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824571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0">
                          <a:solidFill>
                            <a:srgbClr val="000000"/>
                          </a:solidFill>
                        </a:rPr>
                        <a:t>РЗН 2024/22440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BOOSTER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히알루론산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935974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0">
                          <a:solidFill>
                            <a:srgbClr val="000000"/>
                          </a:solidFill>
                        </a:rPr>
                        <a:t>РЗН 2024/22794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PH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PLLA + HA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609179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0">
                          <a:solidFill>
                            <a:srgbClr val="000000"/>
                          </a:solidFill>
                        </a:rPr>
                        <a:t>РЗН 2025/26343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Filler X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PCL + HA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470302"/>
                  </a:ext>
                </a:extLst>
              </a:tr>
              <a:tr h="409222">
                <a:tc>
                  <a:txBody>
                    <a:bodyPr/>
                    <a:lstStyle/>
                    <a:p>
                      <a:pPr latinLnBrk="1"/>
                      <a:r>
                        <a:rPr lang="az-Cyrl-AZ" altLang="ko-KR" sz="1300" b="0">
                          <a:solidFill>
                            <a:srgbClr val="000000"/>
                          </a:solidFill>
                        </a:rPr>
                        <a:t>РЗН 2025/26344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GANA CH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칼슘 </a:t>
                      </a:r>
                      <a:r>
                        <a:rPr lang="en-US" altLang="ko-KR" sz="13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+ HA</a:t>
                      </a:r>
                      <a:endParaRPr lang="ko-KR" altLang="en-US" sz="13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4195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882D735-E77C-46FE-BF3E-0154F65EE4A0}"/>
              </a:ext>
            </a:extLst>
          </p:cNvPr>
          <p:cNvSpPr txBox="1"/>
          <p:nvPr/>
        </p:nvSpPr>
        <p:spPr>
          <a:xfrm>
            <a:off x="1016000" y="5740400"/>
            <a:ext cx="10922000" cy="39158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한 가지 원료를 사와서 파는 회사는 이런 목록이 나오지 않습니다</a:t>
            </a:r>
            <a:r>
              <a:rPr lang="en-US" altLang="ko-KR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2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7521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0CEEE2-1BB2-44BB-8B30-35024109F017}"/>
              </a:ext>
            </a:extLst>
          </p:cNvPr>
          <p:cNvSpPr txBox="1"/>
          <p:nvPr/>
        </p:nvSpPr>
        <p:spPr>
          <a:xfrm>
            <a:off x="1016000" y="533400"/>
            <a:ext cx="10160000" cy="4449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6 </a:t>
            </a:r>
            <a:r>
              <a:rPr lang="ko-KR" altLang="en-US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개 계열사 </a:t>
            </a:r>
            <a:r>
              <a:rPr lang="en-US" altLang="ko-KR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2500" b="1">
                <a:solidFill>
                  <a:srgbClr val="000000"/>
                </a:solidFill>
                <a:latin typeface="Malgun Gothic" panose="020B0503020000020004" pitchFamily="50" charset="-127"/>
              </a:rPr>
              <a:t>하나도 빠지지 않습니다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19F74-D873-4668-B9B0-E9BFAEE61FEE}"/>
              </a:ext>
            </a:extLst>
          </p:cNvPr>
          <p:cNvSpPr txBox="1"/>
          <p:nvPr/>
        </p:nvSpPr>
        <p:spPr>
          <a:xfrm>
            <a:off x="1016000" y="1041400"/>
            <a:ext cx="10160000" cy="3381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900">
                <a:solidFill>
                  <a:srgbClr val="666666"/>
                </a:solidFill>
                <a:latin typeface="Malgun Gothic" panose="020B0503020000020004" pitchFamily="50" charset="-127"/>
              </a:rPr>
              <a:t>바뀌는 것은 순서입니다</a:t>
            </a:r>
            <a:r>
              <a:rPr lang="en-US" altLang="ko-KR" sz="1900">
                <a:solidFill>
                  <a:srgbClr val="666666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900">
                <a:solidFill>
                  <a:srgbClr val="666666"/>
                </a:solidFill>
                <a:latin typeface="Malgun Gothic" panose="020B0503020000020004" pitchFamily="50" charset="-127"/>
              </a:rPr>
              <a:t>만드는 회사를 앞에</a:t>
            </a:r>
            <a:r>
              <a:rPr lang="en-US" altLang="ko-KR" sz="1900">
                <a:solidFill>
                  <a:srgbClr val="66666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666666"/>
                </a:solidFill>
                <a:latin typeface="Malgun Gothic" panose="020B0503020000020004" pitchFamily="50" charset="-127"/>
              </a:rPr>
              <a:t>내보내는 회사를 뒤에</a:t>
            </a:r>
            <a:r>
              <a:rPr lang="en-US" altLang="ko-KR" sz="1900">
                <a:solidFill>
                  <a:srgbClr val="666666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>
              <a:solidFill>
                <a:srgbClr val="666666"/>
              </a:solidFill>
              <a:latin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302A59-CEB8-47E2-AFCA-C452FC81BE5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651000"/>
            <a:ext cx="8636000" cy="294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9E558C-08CB-436A-AD52-208F7D88873D}"/>
              </a:ext>
            </a:extLst>
          </p:cNvPr>
          <p:cNvSpPr txBox="1"/>
          <p:nvPr/>
        </p:nvSpPr>
        <p:spPr>
          <a:xfrm>
            <a:off x="1016000" y="5080000"/>
            <a:ext cx="10922000" cy="7939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100">
                <a:solidFill>
                  <a:srgbClr val="000000"/>
                </a:solidFill>
                <a:latin typeface="Malgun Gothic" panose="020B0503020000020004" pitchFamily="50" charset="-127"/>
              </a:rPr>
              <a:t>지금은 여섯이 나란히 서 있어 가짓수로 읽힙니다</a:t>
            </a:r>
            <a:r>
              <a:rPr lang="en-US" altLang="ko-KR" sz="2100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br>
              <a:rPr lang="en-US" altLang="ko-KR" sz="21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100">
                <a:solidFill>
                  <a:srgbClr val="000000"/>
                </a:solidFill>
                <a:latin typeface="Malgun Gothic" panose="020B0503020000020004" pitchFamily="50" charset="-127"/>
              </a:rPr>
              <a:t>순서를 주면 똑같은 여섯이 하나의 흐름이 됩니다</a:t>
            </a:r>
            <a:r>
              <a:rPr lang="en-US" altLang="ko-KR" sz="2100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1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849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455871-E083-4493-A163-A86C24EBC757}"/>
              </a:ext>
            </a:extLst>
          </p:cNvPr>
          <p:cNvSpPr txBox="1"/>
          <p:nvPr/>
        </p:nvSpPr>
        <p:spPr>
          <a:xfrm>
            <a:off x="1016000" y="698500"/>
            <a:ext cx="10160000" cy="355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>
                <a:solidFill>
                  <a:srgbClr val="666666"/>
                </a:solidFill>
                <a:latin typeface="Malgun Gothic" panose="020B0503020000020004" pitchFamily="50" charset="-127"/>
              </a:rPr>
              <a:t>다만 조건이 하나 있습니다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D22AF4-7386-447D-A6BA-187303BC4FB8}"/>
              </a:ext>
            </a:extLst>
          </p:cNvPr>
          <p:cNvSpPr/>
          <p:nvPr/>
        </p:nvSpPr>
        <p:spPr>
          <a:xfrm>
            <a:off x="1016000" y="1270000"/>
            <a:ext cx="10160000" cy="1905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7AE47-0EDC-493A-AAE3-E3B9A86EDD0C}"/>
              </a:ext>
            </a:extLst>
          </p:cNvPr>
          <p:cNvSpPr txBox="1"/>
          <p:nvPr/>
        </p:nvSpPr>
        <p:spPr>
          <a:xfrm>
            <a:off x="1016000" y="1651000"/>
            <a:ext cx="10922000" cy="6052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우리 숫자가 세 개입니다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86346-6143-4508-B701-774B6785F6D9}"/>
              </a:ext>
            </a:extLst>
          </p:cNvPr>
          <p:cNvSpPr txBox="1"/>
          <p:nvPr/>
        </p:nvSpPr>
        <p:spPr>
          <a:xfrm>
            <a:off x="1270000" y="2667000"/>
            <a:ext cx="10160000" cy="150310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5,000 L      </a:t>
            </a:r>
            <a:r>
              <a:rPr lang="ko-KR" altLang="en-US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우리 공식 보도자료</a:t>
            </a:r>
            <a:br>
              <a:rPr lang="ko-KR" altLang="en-US" sz="26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6,000 L      </a:t>
            </a:r>
            <a:r>
              <a:rPr lang="ko-KR" altLang="en-US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우리 사이트 </a:t>
            </a:r>
            <a:r>
              <a:rPr lang="en-US" altLang="ko-KR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· CPHI</a:t>
            </a:r>
            <a:br>
              <a:rPr lang="en-US" altLang="ko-KR" sz="26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200,000 L    </a:t>
            </a:r>
            <a:r>
              <a:rPr lang="ko-KR" altLang="en-US" sz="2600" b="1">
                <a:solidFill>
                  <a:srgbClr val="000000"/>
                </a:solidFill>
                <a:latin typeface="Malgun Gothic" panose="020B0503020000020004" pitchFamily="50" charset="-127"/>
              </a:rPr>
              <a:t>계열사 사이트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C4AD37-403B-4599-9684-85B833D68E1D}"/>
              </a:ext>
            </a:extLst>
          </p:cNvPr>
          <p:cNvSpPr/>
          <p:nvPr/>
        </p:nvSpPr>
        <p:spPr>
          <a:xfrm>
            <a:off x="1016000" y="5270500"/>
            <a:ext cx="10160000" cy="12700"/>
          </a:xfrm>
          <a:prstGeom prst="rect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04131-AAAB-4A22-AD60-EA274E0DA470}"/>
              </a:ext>
            </a:extLst>
          </p:cNvPr>
          <p:cNvSpPr txBox="1"/>
          <p:nvPr/>
        </p:nvSpPr>
        <p:spPr>
          <a:xfrm>
            <a:off x="1016000" y="5613400"/>
            <a:ext cx="10922000" cy="7939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100">
                <a:solidFill>
                  <a:srgbClr val="080000"/>
                </a:solidFill>
                <a:latin typeface="Malgun Gothic" panose="020B0503020000020004" pitchFamily="50" charset="-127"/>
              </a:rPr>
              <a:t>마지막 숫자는 우리가 직접 발표한 것의 </a:t>
            </a:r>
            <a:r>
              <a:rPr lang="en-US" altLang="ko-KR" sz="2100">
                <a:solidFill>
                  <a:srgbClr val="080000"/>
                </a:solidFill>
                <a:latin typeface="Malgun Gothic" panose="020B0503020000020004" pitchFamily="50" charset="-127"/>
              </a:rPr>
              <a:t>40 </a:t>
            </a:r>
            <a:r>
              <a:rPr lang="ko-KR" altLang="en-US" sz="2100">
                <a:solidFill>
                  <a:srgbClr val="080000"/>
                </a:solidFill>
                <a:latin typeface="Malgun Gothic" panose="020B0503020000020004" pitchFamily="50" charset="-127"/>
              </a:rPr>
              <a:t>배입니다</a:t>
            </a:r>
            <a:r>
              <a:rPr lang="en-US" altLang="ko-KR" sz="2100">
                <a:solidFill>
                  <a:srgbClr val="080000"/>
                </a:solidFill>
                <a:latin typeface="Malgun Gothic" panose="020B0503020000020004" pitchFamily="50" charset="-127"/>
              </a:rPr>
              <a:t>.</a:t>
            </a:r>
            <a:br>
              <a:rPr lang="en-US" altLang="ko-KR" sz="2100">
                <a:solidFill>
                  <a:srgbClr val="080000"/>
                </a:solidFill>
                <a:latin typeface="Malgun Gothic" panose="020B0503020000020004" pitchFamily="50" charset="-127"/>
              </a:rPr>
            </a:br>
            <a:r>
              <a:rPr lang="ko-KR" altLang="en-US" sz="2100">
                <a:solidFill>
                  <a:srgbClr val="080000"/>
                </a:solidFill>
                <a:latin typeface="Malgun Gothic" panose="020B0503020000020004" pitchFamily="50" charset="-127"/>
              </a:rPr>
              <a:t>문구를 없애자는 게 아니라</a:t>
            </a:r>
            <a:r>
              <a:rPr lang="en-US" altLang="ko-KR" sz="2100">
                <a:solidFill>
                  <a:srgbClr val="08000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100">
                <a:solidFill>
                  <a:srgbClr val="080000"/>
                </a:solidFill>
                <a:latin typeface="Malgun Gothic" panose="020B0503020000020004" pitchFamily="50" charset="-127"/>
              </a:rPr>
              <a:t>지킬 수 있게 만드는 작업입니다</a:t>
            </a:r>
            <a:r>
              <a:rPr lang="en-US" altLang="ko-KR" sz="2100">
                <a:solidFill>
                  <a:srgbClr val="08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100">
              <a:solidFill>
                <a:srgbClr val="08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347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56409-0044-49E2-A0F0-7E1576339205}"/>
              </a:ext>
            </a:extLst>
          </p:cNvPr>
          <p:cNvSpPr txBox="1"/>
          <p:nvPr/>
        </p:nvSpPr>
        <p:spPr>
          <a:xfrm>
            <a:off x="1016000" y="660400"/>
            <a:ext cx="10160000" cy="355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>
                <a:solidFill>
                  <a:srgbClr val="666666"/>
                </a:solidFill>
                <a:latin typeface="Malgun Gothic" panose="020B0503020000020004" pitchFamily="50" charset="-127"/>
              </a:rPr>
              <a:t>승인 요청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6785D87-2ABA-44FF-B89B-90D770EB58DF}"/>
              </a:ext>
            </a:extLst>
          </p:cNvPr>
          <p:cNvSpPr/>
          <p:nvPr/>
        </p:nvSpPr>
        <p:spPr>
          <a:xfrm>
            <a:off x="1016000" y="1219200"/>
            <a:ext cx="10160000" cy="1905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20420-D6D4-497E-A588-DF2DA98CD490}"/>
              </a:ext>
            </a:extLst>
          </p:cNvPr>
          <p:cNvSpPr txBox="1"/>
          <p:nvPr/>
        </p:nvSpPr>
        <p:spPr>
          <a:xfrm>
            <a:off x="1016000" y="1651000"/>
            <a:ext cx="10922000" cy="6052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세 가지를 진행하겠습니다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9990B-BFCF-4C98-832A-877448C58B3D}"/>
              </a:ext>
            </a:extLst>
          </p:cNvPr>
          <p:cNvSpPr txBox="1"/>
          <p:nvPr/>
        </p:nvSpPr>
        <p:spPr>
          <a:xfrm>
            <a:off x="1143000" y="2730500"/>
            <a:ext cx="10668000" cy="2710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1.  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대외 슬로건과 홈페이지 헤드라인을</a:t>
            </a:r>
            <a:b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      「재생을 직접 만든다」 축으로 재작성</a:t>
            </a:r>
            <a:b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b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2.  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계열사 소개 기준을 「제조 깊이」로 전환</a:t>
            </a:r>
            <a:b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b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3.  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그룹 팩트시트 단일화  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(1·2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의 선행 조건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)</a:t>
            </a:r>
            <a:endParaRPr lang="ko-KR" altLang="en-US" sz="23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9142708-824C-4D3B-9511-7CD99A76BC90}"/>
              </a:ext>
            </a:extLst>
          </p:cNvPr>
          <p:cNvSpPr/>
          <p:nvPr/>
        </p:nvSpPr>
        <p:spPr>
          <a:xfrm>
            <a:off x="1016000" y="5689600"/>
            <a:ext cx="10160000" cy="12700"/>
          </a:xfrm>
          <a:prstGeom prst="rect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60B2A-1911-4447-B780-D7ABB157519B}"/>
              </a:ext>
            </a:extLst>
          </p:cNvPr>
          <p:cNvSpPr txBox="1"/>
          <p:nvPr/>
        </p:nvSpPr>
        <p:spPr>
          <a:xfrm>
            <a:off x="1016000" y="5994400"/>
            <a:ext cx="10922000" cy="3738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버리는 것은 하나도 없습니다</a:t>
            </a:r>
            <a:r>
              <a:rPr lang="en-US" altLang="ko-KR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약속 대신 만든 것을 보여드리는 것뿐입니다</a:t>
            </a:r>
            <a:r>
              <a:rPr lang="en-US" altLang="ko-KR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5395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D8072-732A-4B1F-B0C7-D08CF1D18951}"/>
              </a:ext>
            </a:extLst>
          </p:cNvPr>
          <p:cNvSpPr txBox="1"/>
          <p:nvPr/>
        </p:nvSpPr>
        <p:spPr>
          <a:xfrm>
            <a:off x="1016000" y="698500"/>
            <a:ext cx="10160000" cy="355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000">
                <a:solidFill>
                  <a:srgbClr val="666666"/>
                </a:solidFill>
                <a:latin typeface="Malgun Gothic" panose="020B0503020000020004" pitchFamily="50" charset="-127"/>
              </a:rPr>
              <a:t>마지막으로</a:t>
            </a:r>
            <a:r>
              <a:rPr lang="en-US" altLang="ko-KR" sz="2000">
                <a:solidFill>
                  <a:srgbClr val="66666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666666"/>
                </a:solidFill>
                <a:latin typeface="Malgun Gothic" panose="020B0503020000020004" pitchFamily="50" charset="-127"/>
              </a:rPr>
              <a:t>제가 아직 확인하지 못한 것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C4E67A1-D154-41EC-A6A0-82FBBB5F64CE}"/>
              </a:ext>
            </a:extLst>
          </p:cNvPr>
          <p:cNvSpPr/>
          <p:nvPr/>
        </p:nvSpPr>
        <p:spPr>
          <a:xfrm>
            <a:off x="1016000" y="1270000"/>
            <a:ext cx="10160000" cy="1905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6BDAC-7F3E-4A63-B904-CF1E6AA823BB}"/>
              </a:ext>
            </a:extLst>
          </p:cNvPr>
          <p:cNvSpPr txBox="1"/>
          <p:nvPr/>
        </p:nvSpPr>
        <p:spPr>
          <a:xfrm>
            <a:off x="1016000" y="1752600"/>
            <a:ext cx="10922000" cy="271003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1.  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필러 원료 라인과 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AAV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벡터 라인이</a:t>
            </a:r>
            <a:b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      사람 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설비 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공정에서 이어집니까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b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b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2.  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지금 당장 받을 수 있는 최대 배치는 몇 리터입니까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b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b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3.   5,000 L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는 돌려본 숫자입니까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300">
                <a:solidFill>
                  <a:srgbClr val="000000"/>
                </a:solidFill>
                <a:latin typeface="Malgun Gothic" panose="020B0503020000020004" pitchFamily="50" charset="-127"/>
              </a:rPr>
              <a:t>도면상 숫자입니까</a:t>
            </a:r>
            <a:r>
              <a:rPr lang="en-US" altLang="ko-KR" sz="2300">
                <a:solidFill>
                  <a:srgbClr val="000000"/>
                </a:solidFill>
                <a:latin typeface="Malgun Gothic" panose="020B0503020000020004" pitchFamily="50" charset="-127"/>
              </a:rPr>
              <a:t>?</a:t>
            </a:r>
            <a:endParaRPr lang="ko-KR" altLang="en-US" sz="2300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FDA9D17-43AE-47D4-A612-AA32B204155F}"/>
              </a:ext>
            </a:extLst>
          </p:cNvPr>
          <p:cNvSpPr/>
          <p:nvPr/>
        </p:nvSpPr>
        <p:spPr>
          <a:xfrm>
            <a:off x="1016000" y="5080000"/>
            <a:ext cx="10160000" cy="12700"/>
          </a:xfrm>
          <a:prstGeom prst="rect">
            <a:avLst/>
          </a:prstGeom>
          <a:solidFill>
            <a:srgbClr val="CCCC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1DC268-6E05-4099-8BA9-18E38A2C6155}"/>
              </a:ext>
            </a:extLst>
          </p:cNvPr>
          <p:cNvSpPr txBox="1"/>
          <p:nvPr/>
        </p:nvSpPr>
        <p:spPr>
          <a:xfrm>
            <a:off x="1016000" y="5435600"/>
            <a:ext cx="10922000" cy="79393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이 셋은 공개 자료로 확인되지 않습니다</a:t>
            </a:r>
            <a:r>
              <a:rPr lang="en-US" altLang="ko-KR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br>
              <a:rPr lang="en-US" altLang="ko-KR" sz="2100" b="1">
                <a:solidFill>
                  <a:srgbClr val="000000"/>
                </a:solidFill>
                <a:latin typeface="Malgun Gothic" panose="020B0503020000020004" pitchFamily="50" charset="-127"/>
              </a:rPr>
            </a:br>
            <a:r>
              <a:rPr lang="ko-KR" altLang="en-US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답을 주시면 문구를 확정하겠습니다</a:t>
            </a:r>
            <a:r>
              <a:rPr lang="en-US" altLang="ko-KR" sz="21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21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621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Microsoft Office PowerPoint</Application>
  <PresentationFormat>사용자 지정</PresentationFormat>
  <Paragraphs>64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소정 박</dc:creator>
  <cp:lastModifiedBy>소정 박</cp:lastModifiedBy>
  <cp:revision>2</cp:revision>
  <dcterms:created xsi:type="dcterms:W3CDTF">2026-07-22T21:06:23Z</dcterms:created>
  <dcterms:modified xsi:type="dcterms:W3CDTF">2026-07-22T21:07:17Z</dcterms:modified>
</cp:coreProperties>
</file>